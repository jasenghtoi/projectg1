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DB60B81-6644-4223-84CE-8AE97E193417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D5B3D50-C5AD-467D-B963-41AB70149540}" type="slidenum">
              <a:t>‹#›</a:t>
            </a:fld>
            <a:endParaRPr dirty="0"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D98C342-415D-40FF-9474-463B883CD97D}" type="slidenum">
              <a:t>‹#›</a:t>
            </a:fld>
            <a:endParaRPr dirty="0"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0638E5-8D2A-4F7D-8A22-AA372E9A03B5}" type="slidenum">
              <a:t>‹#›</a:t>
            </a:fld>
            <a:endParaRPr dirty="0"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7637FBE-D546-4AB8-86D3-A99EE3CFFB40}" type="slidenum">
              <a:t>‹#›</a:t>
            </a:fld>
            <a:endParaRPr dirty="0"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3C0809B-6B9B-4F2F-98AA-4AFE2C6DB137}" type="slidenum">
              <a:t>‹#›</a:t>
            </a:fld>
            <a:endParaRPr dirty="0"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56C2C07-5735-49E1-B55F-5B3E7003407F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12DBCA8-759A-400E-91C4-FDC44CA1F3AF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9E88CC3-D339-4726-9E03-E876C1C27213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D58579-5D4F-4986-A015-5119BA347C51}" type="slidenum">
              <a:t>‹#›</a:t>
            </a:fld>
            <a:endParaRPr dirty="0"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1FE144C-30A9-4B21-A104-72D2EECE343C}" type="slidenum">
              <a:t>‹#›</a:t>
            </a:fld>
            <a:endParaRPr dirty="0"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F0218B-9193-4596-9AB2-55C1B6B579A7}" type="slidenum">
              <a:t>‹#›</a:t>
            </a:fld>
            <a:endParaRPr dirty="0"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E4EED00-CB87-4B84-9809-51E996ECBC82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B7F613E-59E4-4EBC-8AFC-6CB19FE22141}" type="slidenum">
              <a:t>‹#›</a:t>
            </a:fld>
            <a:endParaRPr dirty="0"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AFAA46-0A95-4DF2-9E60-C9596F973E40}" type="slidenum">
              <a:t>‹#›</a:t>
            </a:fld>
            <a:endParaRPr dirty="0"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C0603-61B6-43EF-9F60-F20804B468DD}" type="slidenum">
              <a:t>‹#›</a:t>
            </a:fld>
            <a:endParaRPr dirty="0"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35AC3CB-18C4-46F6-B05D-0531929E4DE9}" type="slidenum">
              <a:t>‹#›</a:t>
            </a:fld>
            <a:endParaRPr dirty="0"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B8FA493-B385-4701-860C-9E0A16A1BD82}" type="slidenum">
              <a:t>‹#›</a:t>
            </a:fld>
            <a:endParaRPr dirty="0"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0B010E4-57A6-4C05-ABE2-DDBC43E1684F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B68EBBE-C782-47E4-A031-1BE4E82B6FD5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1F46B59-11BB-4C3C-B5BE-3DFD85A41FD8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9139D84-CD0F-4378-B945-551C2E2D8323}" type="slidenum">
              <a:t>‹#›</a:t>
            </a:fld>
            <a:endParaRPr dirty="0"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60A396E-EB57-4F19-9559-51C5589DA61B}" type="slidenum">
              <a:t>‹#›</a:t>
            </a:fld>
            <a:endParaRPr dirty="0"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B590E70-8174-4FE9-B0BD-E503600FCDB8}" type="slidenum">
              <a:t>‹#›</a:t>
            </a:fld>
            <a:endParaRPr dirty="0"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6ECA1E8-C24F-4CD8-A873-9CBE64041735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4790A74-6975-4472-9AF5-F717F531A4A0}" type="slidenum">
              <a:t>‹#›</a:t>
            </a:fld>
            <a:endParaRPr dirty="0"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B1FC050-07FE-444D-9FCF-DFE0BB19FEEB}" type="slidenum">
              <a:t>‹#›</a:t>
            </a:fld>
            <a:endParaRPr dirty="0"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38FF41D-8171-42E5-8FD0-028A564330FB}" type="slidenum">
              <a:t>‹#›</a:t>
            </a:fld>
            <a:endParaRPr dirty="0"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76EF139-C3C8-4149-8342-FAD4009AF262}" type="slidenum">
              <a:t>‹#›</a:t>
            </a:fld>
            <a:endParaRPr dirty="0"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A5DCC9F-C44A-4EBA-8418-ABDF68E5845D}" type="slidenum">
              <a:t>‹#›</a:t>
            </a:fld>
            <a:endParaRPr dirty="0"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7F6983F-6A05-4B85-B4CE-F8A89CF739C4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CB604AE-DF2F-44B6-8F37-C101364520FD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CBD1CFD-47A4-4F9C-8F6A-43F2E1795B14}" type="slidenum">
              <a:t>‹#›</a:t>
            </a:fld>
            <a:endParaRPr dirty="0"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FB5A217-9D1C-4C1E-A44F-3824BAE7C616}" type="slidenum">
              <a:t>‹#›</a:t>
            </a:fld>
            <a:endParaRPr dirty="0"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A855749-2552-4B83-BEDD-F7D083847204}" type="slidenum">
              <a:t>‹#›</a:t>
            </a:fld>
            <a:endParaRPr dirty="0"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23678D3-8B6A-45E6-B130-2068245ECB69}" type="slidenum">
              <a:t>‹#›</a:t>
            </a:fld>
            <a:endParaRPr dirty="0"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 dirty="0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184CF2-ED7C-4378-BF17-1C6DDD26D75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Edit Master text styles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 dirty="0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A767C9-D805-46AA-A850-755BD863177C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 dirty="0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7637DC-990E-4A3F-A21C-FFF3276D91DD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3"/>
          <p:cNvSpPr/>
          <p:nvPr/>
        </p:nvSpPr>
        <p:spPr>
          <a:xfrm>
            <a:off x="3478320" y="523750"/>
            <a:ext cx="545760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/>
              </a:rPr>
              <a:t>Department of </a:t>
            </a:r>
            <a:r>
              <a:rPr lang="en-US" sz="3000" b="0" strike="noStrike" spc="-1" dirty="0" smtClean="0">
                <a:solidFill>
                  <a:srgbClr val="000000"/>
                </a:solidFill>
                <a:latin typeface="Times New Roman"/>
              </a:rPr>
              <a:t>Computer Science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2738260" y="5502596"/>
            <a:ext cx="69377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/>
              </a:rPr>
              <a:t>LAN </a:t>
            </a:r>
            <a:r>
              <a:rPr lang="en-US" sz="3000" spc="-1" dirty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3000" b="0" strike="noStrike" spc="-1" dirty="0" smtClean="0">
                <a:solidFill>
                  <a:srgbClr val="000000"/>
                </a:solidFill>
                <a:latin typeface="Times New Roman"/>
              </a:rPr>
              <a:t>ase </a:t>
            </a:r>
            <a:r>
              <a:rPr lang="en-US" sz="3000" spc="-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sz="3000" b="0" strike="noStrike" spc="-1" dirty="0" smtClean="0">
                <a:solidFill>
                  <a:srgbClr val="000000"/>
                </a:solidFill>
                <a:latin typeface="Times New Roman"/>
              </a:rPr>
              <a:t>hat </a:t>
            </a:r>
            <a:r>
              <a:rPr lang="en-US" sz="3000" b="0" strike="noStrike" spc="-1" dirty="0">
                <a:solidFill>
                  <a:srgbClr val="000000"/>
                </a:solidFill>
                <a:latin typeface="Times New Roman"/>
              </a:rPr>
              <a:t>and File Sharing System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Picture 1"/>
          <p:cNvPicPr/>
          <p:nvPr/>
        </p:nvPicPr>
        <p:blipFill>
          <a:blip r:embed="rId2"/>
          <a:stretch/>
        </p:blipFill>
        <p:spPr>
          <a:xfrm>
            <a:off x="4002960" y="1076294"/>
            <a:ext cx="4408320" cy="4284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3"/>
          <p:cNvSpPr/>
          <p:nvPr/>
        </p:nvSpPr>
        <p:spPr>
          <a:xfrm>
            <a:off x="4704120" y="574920"/>
            <a:ext cx="194148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0000"/>
                </a:solidFill>
                <a:latin typeface="Times New Roman"/>
              </a:rPr>
              <a:t>Group - I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1083960" y="1706400"/>
            <a:ext cx="6862320" cy="8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Supervisor		  -  Sr.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Maran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 Gam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Awng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    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Co-Supervisor	  -  Sr.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Labya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Naw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Naw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1083960" y="2809080"/>
            <a:ext cx="2535480" cy="4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Group Members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4025160" y="2809080"/>
            <a:ext cx="6673680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500" b="0" strike="noStrike" spc="-1" dirty="0" smtClean="0">
                <a:solidFill>
                  <a:srgbClr val="000000"/>
                </a:solidFill>
                <a:latin typeface="Times New Roman"/>
              </a:rPr>
              <a:t>3Cs-02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Jangmaw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 Sunday </a:t>
            </a:r>
            <a:r>
              <a:rPr lang="en-US" sz="2500" b="0" strike="noStrike" spc="-1" dirty="0" err="1" smtClean="0">
                <a:solidFill>
                  <a:srgbClr val="000000"/>
                </a:solidFill>
                <a:latin typeface="Times New Roman"/>
              </a:rPr>
              <a:t>Awng</a:t>
            </a:r>
            <a:endParaRPr lang="en-US" sz="2500" b="0" strike="noStrike" spc="-1" dirty="0" smtClean="0">
              <a:solidFill>
                <a:srgbClr val="000000"/>
              </a:solidFill>
              <a:latin typeface="Times New Roman"/>
            </a:endParaRPr>
          </a:p>
          <a:p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3Cs-03: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Labang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Myu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 Ring </a:t>
            </a:r>
            <a:r>
              <a:rPr lang="en-US" sz="2500" spc="-1" dirty="0" err="1" smtClean="0">
                <a:solidFill>
                  <a:srgbClr val="000000"/>
                </a:solidFill>
                <a:latin typeface="Times New Roman"/>
              </a:rPr>
              <a:t>Awng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 dirty="0" smtClean="0">
                <a:solidFill>
                  <a:srgbClr val="000000"/>
                </a:solidFill>
                <a:latin typeface="Times New Roman"/>
              </a:rPr>
              <a:t>3Cs-05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Lahtaw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Bawk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 Li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2500" spc="-1" dirty="0" smtClean="0">
                <a:solidFill>
                  <a:srgbClr val="000000"/>
                </a:solidFill>
                <a:latin typeface="Times New Roman"/>
              </a:rPr>
              <a:t>3Cs-11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Mwihpu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 Nan </a:t>
            </a:r>
            <a:r>
              <a:rPr lang="en-US" sz="2500" spc="-1" dirty="0" smtClean="0">
                <a:solidFill>
                  <a:srgbClr val="000000"/>
                </a:solidFill>
                <a:latin typeface="Times New Roman"/>
              </a:rPr>
              <a:t>Lung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spc="-1" dirty="0" smtClean="0">
                <a:solidFill>
                  <a:srgbClr val="000000"/>
                </a:solidFill>
                <a:latin typeface="Times New Roman"/>
              </a:rPr>
              <a:t>3Cs-16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Ngadawng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 Ja Seng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Htoi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3Cs-17: Sham </a:t>
            </a:r>
            <a:r>
              <a:rPr lang="en-US" sz="2500" b="0" strike="noStrike" spc="-1" dirty="0" err="1">
                <a:solidFill>
                  <a:srgbClr val="000000"/>
                </a:solidFill>
                <a:latin typeface="Times New Roman"/>
              </a:rPr>
              <a:t>Sut</a:t>
            </a: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 Ring </a:t>
            </a:r>
            <a:r>
              <a:rPr lang="en-US" sz="2500" b="0" strike="noStrike" spc="-1" dirty="0" err="1" smtClean="0">
                <a:solidFill>
                  <a:srgbClr val="000000"/>
                </a:solidFill>
                <a:latin typeface="Times New Roman"/>
              </a:rPr>
              <a:t>Naw</a:t>
            </a:r>
            <a:endParaRPr lang="en-US" sz="2500" b="0" strike="noStrike" spc="-1" dirty="0" smtClean="0">
              <a:solidFill>
                <a:srgbClr val="000000"/>
              </a:solidFill>
              <a:latin typeface="Times New Roman"/>
            </a:endParaRPr>
          </a:p>
          <a:p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3Cs-19: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Wabaw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Zau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00" spc="-1" dirty="0" err="1" smtClean="0">
                <a:solidFill>
                  <a:srgbClr val="000000"/>
                </a:solidFill>
                <a:latin typeface="Times New Roman"/>
              </a:rPr>
              <a:t>Ing</a:t>
            </a:r>
            <a:endParaRPr lang="en-US" sz="2500" spc="-1" dirty="0" smtClean="0">
              <a:solidFill>
                <a:srgbClr val="000000"/>
              </a:solidFill>
              <a:latin typeface="Times New Roman"/>
            </a:endParaRPr>
          </a:p>
          <a:p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3Cs-21: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Zunwa</a:t>
            </a:r>
            <a:r>
              <a:rPr lang="en-US" sz="25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00" spc="-1" dirty="0" err="1">
                <a:solidFill>
                  <a:srgbClr val="000000"/>
                </a:solidFill>
                <a:latin typeface="Times New Roman"/>
              </a:rPr>
              <a:t>Zau</a:t>
            </a:r>
            <a:r>
              <a:rPr lang="en-US" sz="2500" spc="-1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00" spc="-1" smtClean="0">
                <a:solidFill>
                  <a:srgbClr val="000000"/>
                </a:solidFill>
                <a:latin typeface="Times New Roman"/>
              </a:rPr>
              <a:t>Ring</a:t>
            </a:r>
            <a:endParaRPr lang="en-US" sz="2500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3"/>
          <p:cNvSpPr/>
          <p:nvPr/>
        </p:nvSpPr>
        <p:spPr>
          <a:xfrm>
            <a:off x="596880" y="693000"/>
            <a:ext cx="283428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Times New Roman"/>
              </a:rPr>
              <a:t>Contents  : 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3117600" y="1646280"/>
            <a:ext cx="6205320" cy="420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strike="noStrike" spc="-1">
                <a:solidFill>
                  <a:srgbClr val="000000"/>
                </a:solidFill>
                <a:latin typeface="Times New Roman"/>
              </a:rPr>
              <a:t>Introduction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strike="noStrike" spc="-1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strike="noStrike" spc="-1">
                <a:solidFill>
                  <a:srgbClr val="000000"/>
                </a:solidFill>
                <a:latin typeface="Times New Roman"/>
              </a:rPr>
              <a:t>Objectives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strike="noStrike" spc="-1">
                <a:solidFill>
                  <a:srgbClr val="000000"/>
                </a:solidFill>
                <a:latin typeface="Times New Roman"/>
              </a:rPr>
              <a:t>User Interface &amp; Use-case Diagram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strike="noStrike" spc="-1">
                <a:solidFill>
                  <a:srgbClr val="000000"/>
                </a:solidFill>
                <a:latin typeface="Times New Roman"/>
              </a:rPr>
              <a:t>Flowchart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strike="noStrike" spc="-1">
                <a:solidFill>
                  <a:srgbClr val="000000"/>
                </a:solidFill>
                <a:latin typeface="Times New Roman"/>
              </a:rPr>
              <a:t>Conclusion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342000" y="410040"/>
            <a:ext cx="2625120" cy="100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Times New Roman"/>
              </a:rPr>
              <a:t>Introduction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1259280" y="918000"/>
            <a:ext cx="10467360" cy="504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</a:pP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  <a:ea typeface="Tahoma"/>
              </a:rPr>
              <a:t>People, who on the same local network easily and quickly share messages and files.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  <a:ea typeface="Tahoma"/>
              </a:rPr>
              <a:t>The system uses a technology called socket API to provide real-time chat and file sharing.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  <a:ea typeface="Tahoma"/>
              </a:rPr>
              <a:t> It is built as a web application, making it perfect for teachers and students need to share lessons, messages, files, and videos easily.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  <a:ea typeface="Tahoma"/>
              </a:rPr>
              <a:t> It focuses on group communication, discussions, user privacy, and fast performance (low latency).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588600" y="398880"/>
            <a:ext cx="1944000" cy="92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1484280" y="1177200"/>
            <a:ext cx="9658080" cy="52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This project is designed to provide chat and file sharing within a Local Area Network (LAN).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It can operate without an internet connection, ensuring independent local communication.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The system is developed using socket API, supporting both client-server and peer-to-peer communication.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It enables real-time messaging and fast file transfer with minimal delay.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A user-friendly interface is implemented to make the system easy to use.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2"/>
          <p:cNvSpPr/>
          <p:nvPr/>
        </p:nvSpPr>
        <p:spPr>
          <a:xfrm>
            <a:off x="463320" y="473760"/>
            <a:ext cx="2309760" cy="77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Times New Roman"/>
              </a:rPr>
              <a:t>Objectives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1046520" y="1734480"/>
            <a:ext cx="10387800" cy="389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To provide fast and efficient real-time communication for users on the LAN.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To make the sharing files simple and quick.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To submit activities such as assignments.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To support one-to-one (peer-to-peer).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500" b="0" strike="noStrike" spc="-1">
                <a:solidFill>
                  <a:srgbClr val="000000"/>
                </a:solidFill>
                <a:latin typeface="Times New Roman"/>
              </a:rPr>
              <a:t>To have an easy-to-use and user-friendly interface.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73"/>
          <p:cNvSpPr txBox="1"/>
          <p:nvPr/>
        </p:nvSpPr>
        <p:spPr>
          <a:xfrm>
            <a:off x="685800" y="2201400"/>
            <a:ext cx="11340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User name: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76520" y="3200400"/>
            <a:ext cx="173808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User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password: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98760" y="5486400"/>
            <a:ext cx="1358640" cy="45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Remember me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85800" y="4690800"/>
            <a:ext cx="3429000" cy="567000"/>
          </a:xfrm>
          <a:prstGeom prst="roundRect">
            <a:avLst>
              <a:gd name="adj" fmla="val 16667"/>
            </a:avLst>
          </a:prstGeom>
          <a:solidFill>
            <a:srgbClr val="068A0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Login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85800" y="3564720"/>
            <a:ext cx="3429000" cy="550080"/>
          </a:xfrm>
          <a:prstGeom prst="roundRect">
            <a:avLst>
              <a:gd name="adj" fmla="val 16667"/>
            </a:avLst>
          </a:pr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500" b="0" strike="noStrike" spc="-1" dirty="0">
                <a:solidFill>
                  <a:srgbClr val="D8DCEF"/>
                </a:solidFill>
                <a:latin typeface="Times New Roman"/>
              </a:rPr>
              <a:t>Enter user password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85800" y="2514600"/>
            <a:ext cx="3429000" cy="457200"/>
          </a:xfrm>
          <a:prstGeom prst="roundRect">
            <a:avLst>
              <a:gd name="adj" fmla="val 16667"/>
            </a:avLst>
          </a:pr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500" b="0" strike="noStrike" spc="-1">
                <a:solidFill>
                  <a:srgbClr val="D8DCEF"/>
                </a:solidFill>
                <a:latin typeface="Times New Roman"/>
              </a:rPr>
              <a:t>Enter user name</a:t>
            </a:r>
          </a:p>
        </p:txBody>
      </p:sp>
      <p:grpSp>
        <p:nvGrpSpPr>
          <p:cNvPr id="180" name="user-identity 1"/>
          <p:cNvGrpSpPr/>
          <p:nvPr/>
        </p:nvGrpSpPr>
        <p:grpSpPr>
          <a:xfrm>
            <a:off x="3657600" y="2621880"/>
            <a:ext cx="360000" cy="349920"/>
            <a:chOff x="3657600" y="2621880"/>
            <a:chExt cx="360000" cy="349920"/>
          </a:xfrm>
        </p:grpSpPr>
        <p:sp>
          <p:nvSpPr>
            <p:cNvPr id="181" name="Rounded Rectangle 180"/>
            <p:cNvSpPr/>
            <p:nvPr/>
          </p:nvSpPr>
          <p:spPr>
            <a:xfrm>
              <a:off x="3657600" y="2621880"/>
              <a:ext cx="360000" cy="349920"/>
            </a:xfrm>
            <a:prstGeom prst="roundRect">
              <a:avLst>
                <a:gd name="adj" fmla="val 0"/>
              </a:avLst>
            </a:prstGeom>
            <a:noFill/>
            <a:ln w="1008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82" name="Oval 181"/>
            <p:cNvSpPr/>
            <p:nvPr/>
          </p:nvSpPr>
          <p:spPr>
            <a:xfrm>
              <a:off x="3792600" y="2709360"/>
              <a:ext cx="90000" cy="87120"/>
            </a:xfrm>
            <a:prstGeom prst="ellipse">
              <a:avLst/>
            </a:prstGeom>
            <a:noFill/>
            <a:ln w="1008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5040" tIns="11880" rIns="95040" bIns="1188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83" name="Arc 182"/>
            <p:cNvSpPr/>
            <p:nvPr/>
          </p:nvSpPr>
          <p:spPr>
            <a:xfrm>
              <a:off x="3747600" y="2808360"/>
              <a:ext cx="180000" cy="153000"/>
            </a:xfrm>
            <a:prstGeom prst="arc">
              <a:avLst>
                <a:gd name="adj1" fmla="val 10831620"/>
                <a:gd name="adj2" fmla="val 21542878"/>
              </a:avLst>
            </a:prstGeom>
            <a:noFill/>
            <a:ln w="10080">
              <a:solidFill>
                <a:srgbClr val="000000"/>
              </a:solidFill>
              <a:round/>
            </a:ln>
          </p:spPr>
          <p:txBody>
            <a:bodyPr lIns="95040" tIns="50040" rIns="95040" bIns="5004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</p:grpSp>
      <p:grpSp>
        <p:nvGrpSpPr>
          <p:cNvPr id="184" name="folder-locked 1"/>
          <p:cNvGrpSpPr/>
          <p:nvPr/>
        </p:nvGrpSpPr>
        <p:grpSpPr>
          <a:xfrm>
            <a:off x="3657600" y="3754800"/>
            <a:ext cx="360000" cy="360000"/>
            <a:chOff x="3657600" y="3754800"/>
            <a:chExt cx="360000" cy="360000"/>
          </a:xfrm>
        </p:grpSpPr>
        <p:sp>
          <p:nvSpPr>
            <p:cNvPr id="185" name="Rounded Rectangle 184"/>
            <p:cNvSpPr/>
            <p:nvPr/>
          </p:nvSpPr>
          <p:spPr>
            <a:xfrm>
              <a:off x="3657600" y="3754800"/>
              <a:ext cx="360000" cy="360000"/>
            </a:xfrm>
            <a:prstGeom prst="roundRect">
              <a:avLst>
                <a:gd name="adj" fmla="val 0"/>
              </a:avLst>
            </a:prstGeom>
            <a:noFill/>
            <a:ln w="1008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3747600" y="3934800"/>
              <a:ext cx="180000" cy="90000"/>
            </a:xfrm>
            <a:custGeom>
              <a:avLst/>
              <a:gdLst/>
              <a:ahLst/>
              <a:cxnLst/>
              <a:rect l="0" t="0" r="r" b="b"/>
              <a:pathLst>
                <a:path w="500" h="250">
                  <a:moveTo>
                    <a:pt x="0" y="250"/>
                  </a:moveTo>
                  <a:lnTo>
                    <a:pt x="500" y="250"/>
                  </a:lnTo>
                  <a:lnTo>
                    <a:pt x="500" y="0"/>
                  </a:lnTo>
                  <a:lnTo>
                    <a:pt x="0" y="0"/>
                  </a:lnTo>
                  <a:lnTo>
                    <a:pt x="0" y="250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round/>
            </a:ln>
          </p:spPr>
          <p:txBody>
            <a:bodyPr lIns="95040" tIns="39960" rIns="95040" bIns="3996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87" name="Straight Connector 186"/>
            <p:cNvSpPr/>
            <p:nvPr/>
          </p:nvSpPr>
          <p:spPr>
            <a:xfrm flipV="1">
              <a:off x="3882600" y="3889800"/>
              <a:ext cx="0" cy="45000"/>
            </a:xfrm>
            <a:prstGeom prst="line">
              <a:avLst/>
            </a:prstGeom>
            <a:ln w="1008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5040" tIns="-5040" rIns="95040" bIns="-504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88" name="Arc 187"/>
            <p:cNvSpPr/>
            <p:nvPr/>
          </p:nvSpPr>
          <p:spPr>
            <a:xfrm>
              <a:off x="3792600" y="3844800"/>
              <a:ext cx="90000" cy="90000"/>
            </a:xfrm>
            <a:prstGeom prst="arc">
              <a:avLst>
                <a:gd name="adj1" fmla="val 10627200"/>
                <a:gd name="adj2" fmla="val 176400"/>
              </a:avLst>
            </a:prstGeom>
            <a:noFill/>
            <a:ln w="10080">
              <a:solidFill>
                <a:srgbClr val="000000"/>
              </a:solidFill>
              <a:round/>
            </a:ln>
          </p:spPr>
          <p:txBody>
            <a:bodyPr lIns="95040" tIns="39960" rIns="95040" bIns="3996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189" name="Straight Connector 188"/>
            <p:cNvSpPr/>
            <p:nvPr/>
          </p:nvSpPr>
          <p:spPr>
            <a:xfrm flipV="1">
              <a:off x="3792600" y="3889800"/>
              <a:ext cx="0" cy="45000"/>
            </a:xfrm>
            <a:prstGeom prst="line">
              <a:avLst/>
            </a:prstGeom>
            <a:ln w="1008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5040" tIns="-5040" rIns="95040" bIns="-504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195" name="TextBox 194"/>
          <p:cNvSpPr txBox="1"/>
          <p:nvPr/>
        </p:nvSpPr>
        <p:spPr>
          <a:xfrm>
            <a:off x="1807920" y="5943600"/>
            <a:ext cx="1163880" cy="27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0" u="sng" strike="noStrike" spc="-1">
                <a:solidFill>
                  <a:srgbClr val="000000"/>
                </a:solidFill>
                <a:uFillTx/>
                <a:latin typeface="Times New Roman"/>
              </a:rPr>
              <a:t>Create account</a:t>
            </a:r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1477440" y="1195560"/>
            <a:ext cx="1722960" cy="314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strike="noStrike" spc="-1">
                <a:solidFill>
                  <a:srgbClr val="000000"/>
                </a:solidFill>
                <a:latin typeface="rsfs10"/>
              </a:rPr>
              <a:t>    Speed Transfer</a:t>
            </a:r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Oval Callout 196"/>
          <p:cNvSpPr/>
          <p:nvPr/>
        </p:nvSpPr>
        <p:spPr>
          <a:xfrm>
            <a:off x="2000880" y="758520"/>
            <a:ext cx="742320" cy="384480"/>
          </a:xfrm>
          <a:prstGeom prst="wedgeEllipseCallout">
            <a:avLst>
              <a:gd name="adj1" fmla="val -50773"/>
              <a:gd name="adj2" fmla="val 7740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Freeform 197"/>
          <p:cNvSpPr/>
          <p:nvPr/>
        </p:nvSpPr>
        <p:spPr>
          <a:xfrm>
            <a:off x="2258280" y="841680"/>
            <a:ext cx="256320" cy="228600"/>
          </a:xfrm>
          <a:custGeom>
            <a:avLst/>
            <a:gdLst>
              <a:gd name="textAreaLeft" fmla="*/ 102960 w 256320"/>
              <a:gd name="textAreaRight" fmla="*/ 165960 w 256320"/>
              <a:gd name="textAreaTop" fmla="*/ 78120 h 228600"/>
              <a:gd name="textAreaBottom" fmla="*/ 150480 h 228600"/>
            </a:gdLst>
            <a:ahLst/>
            <a:cxnLst/>
            <a:rect l="textAreaLeft" t="textAreaTop" r="textAreaRight" b="textAreaBottom"/>
            <a:pathLst>
              <a:path w="640" h="861">
                <a:moveTo>
                  <a:pt x="640" y="233"/>
                </a:moveTo>
                <a:lnTo>
                  <a:pt x="221" y="293"/>
                </a:lnTo>
                <a:lnTo>
                  <a:pt x="506" y="12"/>
                </a:lnTo>
                <a:lnTo>
                  <a:pt x="367" y="0"/>
                </a:lnTo>
                <a:lnTo>
                  <a:pt x="29" y="406"/>
                </a:lnTo>
                <a:lnTo>
                  <a:pt x="431" y="347"/>
                </a:lnTo>
                <a:lnTo>
                  <a:pt x="145" y="645"/>
                </a:lnTo>
                <a:lnTo>
                  <a:pt x="99" y="520"/>
                </a:lnTo>
                <a:lnTo>
                  <a:pt x="0" y="861"/>
                </a:lnTo>
                <a:lnTo>
                  <a:pt x="326" y="765"/>
                </a:lnTo>
                <a:lnTo>
                  <a:pt x="209" y="711"/>
                </a:lnTo>
                <a:lnTo>
                  <a:pt x="640" y="233"/>
                </a:lnTo>
                <a:lnTo>
                  <a:pt x="640" y="233"/>
                </a:lnTo>
                <a:close/>
              </a:path>
            </a:pathLst>
          </a:cu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7360" rIns="90000" bIns="27360" anchor="ctr">
            <a:no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Freeform 198"/>
          <p:cNvSpPr/>
          <p:nvPr/>
        </p:nvSpPr>
        <p:spPr>
          <a:xfrm>
            <a:off x="283320" y="1509840"/>
            <a:ext cx="4060080" cy="5119560"/>
          </a:xfrm>
          <a:custGeom>
            <a:avLst/>
            <a:gdLst>
              <a:gd name="textAreaLeft" fmla="*/ 198000 w 4060080"/>
              <a:gd name="textAreaRight" fmla="*/ 3862080 w 4060080"/>
              <a:gd name="textAreaTop" fmla="*/ 198000 h 5119560"/>
              <a:gd name="textAreaBottom" fmla="*/ 4921560 h 5119560"/>
            </a:gdLst>
            <a:ahLst/>
            <a:cxnLst/>
            <a:rect l="textAreaLeft" t="textAreaTop" r="textAreaRight" b="textAreaBottom"/>
            <a:pathLst>
              <a:path w="21600" h="27236">
                <a:moveTo>
                  <a:pt x="3600" y="0"/>
                </a:moveTo>
                <a:arcTo wR="3600" hR="3600" stAng="16200000" swAng="-5400000"/>
                <a:lnTo>
                  <a:pt x="0" y="23636"/>
                </a:lnTo>
                <a:arcTo wR="3600" hR="3600" stAng="10800000" swAng="-5400000"/>
                <a:lnTo>
                  <a:pt x="18000" y="27236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00" name="checkbox-checked 1"/>
          <p:cNvGrpSpPr/>
          <p:nvPr/>
        </p:nvGrpSpPr>
        <p:grpSpPr>
          <a:xfrm>
            <a:off x="505800" y="5486400"/>
            <a:ext cx="180000" cy="228600"/>
            <a:chOff x="505800" y="5486400"/>
            <a:chExt cx="180000" cy="228600"/>
          </a:xfrm>
        </p:grpSpPr>
        <p:sp>
          <p:nvSpPr>
            <p:cNvPr id="201" name="Freeform 200"/>
            <p:cNvSpPr/>
            <p:nvPr/>
          </p:nvSpPr>
          <p:spPr>
            <a:xfrm>
              <a:off x="505800" y="5486400"/>
              <a:ext cx="180000" cy="228600"/>
            </a:xfrm>
            <a:custGeom>
              <a:avLst/>
              <a:gdLst>
                <a:gd name="textAreaLeft" fmla="*/ 8640 w 180000"/>
                <a:gd name="textAreaRight" fmla="*/ 171360 w 180000"/>
                <a:gd name="textAreaTop" fmla="*/ 8640 h 228600"/>
                <a:gd name="textAreaBottom" fmla="*/ 219960 h 228600"/>
              </a:gdLst>
              <a:ahLst/>
              <a:cxnLst/>
              <a:rect l="textAreaLeft" t="textAreaTop" r="textAreaRight" b="textAreaBottom"/>
              <a:pathLst>
                <a:path w="21600" h="27420">
                  <a:moveTo>
                    <a:pt x="3600" y="0"/>
                  </a:moveTo>
                  <a:arcTo wR="3600" hR="3600" stAng="16200000" swAng="-5400000"/>
                  <a:lnTo>
                    <a:pt x="0" y="23820"/>
                  </a:lnTo>
                  <a:arcTo wR="3600" hR="3600" stAng="10800000" swAng="-5400000"/>
                  <a:lnTo>
                    <a:pt x="18000" y="27420"/>
                  </a:lnTo>
                  <a:arcTo wR="3600" hR="3600" stAng="5400000" swAng="-5400000"/>
                  <a:lnTo>
                    <a:pt x="21600" y="3600"/>
                  </a:lnTo>
                  <a:arcTo wR="3600" hR="3600" stAng="0" swAng="-5400000"/>
                  <a:close/>
                </a:path>
              </a:pathLst>
            </a:custGeom>
            <a:solidFill>
              <a:srgbClr val="3FAF46"/>
            </a:solidFill>
            <a:ln w="12600">
              <a:solidFill>
                <a:srgbClr val="3FAF4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51120" rIns="96120" bIns="5112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202" name="Freeform 201"/>
            <p:cNvSpPr/>
            <p:nvPr/>
          </p:nvSpPr>
          <p:spPr>
            <a:xfrm>
              <a:off x="551880" y="5557680"/>
              <a:ext cx="88560" cy="86040"/>
            </a:xfrm>
            <a:custGeom>
              <a:avLst/>
              <a:gdLst/>
              <a:ahLst/>
              <a:cxnLst/>
              <a:rect l="0" t="0" r="r" b="b"/>
              <a:pathLst>
                <a:path w="246" h="239" fill="none">
                  <a:moveTo>
                    <a:pt x="0" y="133"/>
                  </a:moveTo>
                  <a:lnTo>
                    <a:pt x="84" y="239"/>
                  </a:lnTo>
                  <a:lnTo>
                    <a:pt x="246" y="0"/>
                  </a:lnTo>
                </a:path>
              </a:pathLst>
            </a:custGeom>
            <a:ln w="19080" cap="rnd">
              <a:solidFill>
                <a:srgbClr val="FFFFFF"/>
              </a:solidFill>
              <a:round/>
            </a:ln>
          </p:spPr>
          <p:txBody>
            <a:bodyPr lIns="99360" tIns="31680" rIns="99360" bIns="3168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204" name="Left-Right Arrow Callout 6"/>
          <p:cNvSpPr/>
          <p:nvPr/>
        </p:nvSpPr>
        <p:spPr>
          <a:xfrm>
            <a:off x="5522040" y="3657600"/>
            <a:ext cx="1564560" cy="870120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4812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imes New Roman"/>
              </a:rPr>
              <a:t>Login Form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7"/>
          <p:cNvSpPr/>
          <p:nvPr/>
        </p:nvSpPr>
        <p:spPr>
          <a:xfrm>
            <a:off x="2856240" y="126720"/>
            <a:ext cx="6070680" cy="14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Times New Roman"/>
              </a:rPr>
              <a:t>User Interface &amp; Usecase Diagram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32" y="1586881"/>
            <a:ext cx="2771775" cy="4628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ounded Rectangle 205"/>
          <p:cNvSpPr/>
          <p:nvPr/>
        </p:nvSpPr>
        <p:spPr>
          <a:xfrm>
            <a:off x="480240" y="1816560"/>
            <a:ext cx="3429000" cy="604800"/>
          </a:xfrm>
          <a:prstGeom prst="roundRect">
            <a:avLst>
              <a:gd name="adj" fmla="val 16667"/>
            </a:avLst>
          </a:pr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750" b="0" strike="noStrike" spc="-1">
                <a:solidFill>
                  <a:srgbClr val="E2D5D5"/>
                </a:solidFill>
                <a:latin typeface="Arial"/>
              </a:rPr>
              <a:t>Enter user name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457200" y="3657600"/>
            <a:ext cx="3429000" cy="503640"/>
          </a:xfrm>
          <a:prstGeom prst="roundRect">
            <a:avLst>
              <a:gd name="adj" fmla="val 16667"/>
            </a:avLst>
          </a:pr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750" b="0" strike="noStrike" spc="-1">
                <a:solidFill>
                  <a:srgbClr val="E2D5D5"/>
                </a:solidFill>
                <a:latin typeface="Arial"/>
              </a:rPr>
              <a:t>Enter user new password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57200" y="4463280"/>
            <a:ext cx="3429000" cy="565920"/>
          </a:xfrm>
          <a:prstGeom prst="roundRect">
            <a:avLst>
              <a:gd name="adj" fmla="val 16667"/>
            </a:avLst>
          </a:pr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750" b="0" strike="noStrike" spc="-1">
                <a:solidFill>
                  <a:srgbClr val="E2D5D5"/>
                </a:solidFill>
                <a:latin typeface="Arial"/>
              </a:rPr>
              <a:t>Enter user confirmation password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57200" y="5257800"/>
            <a:ext cx="3429000" cy="457200"/>
          </a:xfrm>
          <a:prstGeom prst="roundRect">
            <a:avLst>
              <a:gd name="adj" fmla="val 16667"/>
            </a:avLst>
          </a:prstGeom>
          <a:solidFill>
            <a:srgbClr val="078E07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500" b="0" strike="noStrike" spc="-1">
                <a:solidFill>
                  <a:srgbClr val="FCF9F9"/>
                </a:solidFill>
                <a:latin typeface="Arial"/>
              </a:rPr>
              <a:t>Sign Up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57200" y="2514600"/>
            <a:ext cx="142416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Email: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7200" y="3355560"/>
            <a:ext cx="126252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Password: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57200" y="4161240"/>
            <a:ext cx="26136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Password confirmation:</a:t>
            </a:r>
          </a:p>
        </p:txBody>
      </p:sp>
      <p:grpSp>
        <p:nvGrpSpPr>
          <p:cNvPr id="213" name="Avatar 1"/>
          <p:cNvGrpSpPr/>
          <p:nvPr/>
        </p:nvGrpSpPr>
        <p:grpSpPr>
          <a:xfrm>
            <a:off x="1828800" y="816120"/>
            <a:ext cx="745920" cy="555480"/>
            <a:chOff x="1828800" y="816120"/>
            <a:chExt cx="745920" cy="555480"/>
          </a:xfrm>
        </p:grpSpPr>
        <p:sp>
          <p:nvSpPr>
            <p:cNvPr id="214" name="Oval 213"/>
            <p:cNvSpPr/>
            <p:nvPr/>
          </p:nvSpPr>
          <p:spPr>
            <a:xfrm>
              <a:off x="1837440" y="822600"/>
              <a:ext cx="737280" cy="549000"/>
            </a:xfrm>
            <a:prstGeom prst="ellipse">
              <a:avLst/>
            </a:prstGeom>
            <a:gradFill rotWithShape="0">
              <a:gsLst>
                <a:gs pos="0">
                  <a:srgbClr val="B4C7DC">
                    <a:alpha val="0"/>
                  </a:srgbClr>
                </a:gs>
                <a:gs pos="100000">
                  <a:srgbClr val="B4C7DC"/>
                </a:gs>
              </a:gsLst>
              <a:path path="circle">
                <a:fillToRect l="50000" t="50000" r="50000" b="50000"/>
              </a:path>
            </a:gradFill>
            <a:ln w="360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8000" tIns="63000" rIns="108000" bIns="6300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215" name="Oval 214"/>
            <p:cNvSpPr/>
            <p:nvPr/>
          </p:nvSpPr>
          <p:spPr>
            <a:xfrm>
              <a:off x="2074320" y="907200"/>
              <a:ext cx="245880" cy="183240"/>
            </a:xfrm>
            <a:prstGeom prst="ellipse">
              <a:avLst/>
            </a:prstGeom>
            <a:solidFill>
              <a:srgbClr val="5983B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216" name="Freeform 215"/>
            <p:cNvSpPr/>
            <p:nvPr/>
          </p:nvSpPr>
          <p:spPr>
            <a:xfrm>
              <a:off x="1918080" y="1108800"/>
              <a:ext cx="559080" cy="256320"/>
            </a:xfrm>
            <a:custGeom>
              <a:avLst/>
              <a:gdLst/>
              <a:ahLst/>
              <a:cxnLst/>
              <a:rect l="0" t="0" r="r" b="b"/>
              <a:pathLst>
                <a:path w="1553" h="712">
                  <a:moveTo>
                    <a:pt x="38" y="381"/>
                  </a:moveTo>
                  <a:cubicBezTo>
                    <a:pt x="112" y="265"/>
                    <a:pt x="220" y="169"/>
                    <a:pt x="350" y="102"/>
                  </a:cubicBezTo>
                  <a:cubicBezTo>
                    <a:pt x="479" y="35"/>
                    <a:pt x="626" y="0"/>
                    <a:pt x="776" y="0"/>
                  </a:cubicBezTo>
                  <a:cubicBezTo>
                    <a:pt x="925" y="0"/>
                    <a:pt x="1073" y="35"/>
                    <a:pt x="1203" y="102"/>
                  </a:cubicBezTo>
                  <a:cubicBezTo>
                    <a:pt x="1333" y="169"/>
                    <a:pt x="1440" y="265"/>
                    <a:pt x="1515" y="381"/>
                  </a:cubicBezTo>
                  <a:cubicBezTo>
                    <a:pt x="1528" y="402"/>
                    <a:pt x="1542" y="425"/>
                    <a:pt x="1553" y="447"/>
                  </a:cubicBezTo>
                  <a:cubicBezTo>
                    <a:pt x="1479" y="512"/>
                    <a:pt x="1389" y="567"/>
                    <a:pt x="1288" y="610"/>
                  </a:cubicBezTo>
                  <a:cubicBezTo>
                    <a:pt x="1133" y="677"/>
                    <a:pt x="957" y="712"/>
                    <a:pt x="776" y="712"/>
                  </a:cubicBezTo>
                  <a:cubicBezTo>
                    <a:pt x="598" y="712"/>
                    <a:pt x="421" y="677"/>
                    <a:pt x="265" y="610"/>
                  </a:cubicBezTo>
                  <a:cubicBezTo>
                    <a:pt x="164" y="567"/>
                    <a:pt x="74" y="511"/>
                    <a:pt x="0" y="446"/>
                  </a:cubicBezTo>
                  <a:cubicBezTo>
                    <a:pt x="11" y="424"/>
                    <a:pt x="23" y="402"/>
                    <a:pt x="38" y="381"/>
                  </a:cubicBezTo>
                  <a:close/>
                </a:path>
              </a:pathLst>
            </a:custGeom>
            <a:solidFill>
              <a:srgbClr val="5983B0"/>
            </a:solidFill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  <p:sp>
          <p:nvSpPr>
            <p:cNvPr id="217" name="Oval 216"/>
            <p:cNvSpPr/>
            <p:nvPr/>
          </p:nvSpPr>
          <p:spPr>
            <a:xfrm>
              <a:off x="1828800" y="816120"/>
              <a:ext cx="736920" cy="548640"/>
            </a:xfrm>
            <a:prstGeom prst="ellipse">
              <a:avLst/>
            </a:prstGeom>
            <a:noFill/>
            <a:ln w="36000">
              <a:solidFill>
                <a:srgbClr val="5983B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8000" tIns="63000" rIns="108000" bIns="63000" anchor="ctr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218" name="Freeform 217"/>
          <p:cNvSpPr/>
          <p:nvPr/>
        </p:nvSpPr>
        <p:spPr>
          <a:xfrm>
            <a:off x="113400" y="685800"/>
            <a:ext cx="4348440" cy="5958000"/>
          </a:xfrm>
          <a:custGeom>
            <a:avLst/>
            <a:gdLst>
              <a:gd name="textAreaLeft" fmla="*/ 212040 w 4348440"/>
              <a:gd name="textAreaRight" fmla="*/ 4136400 w 4348440"/>
              <a:gd name="textAreaTop" fmla="*/ 212040 h 5958000"/>
              <a:gd name="textAreaBottom" fmla="*/ 5745960 h 5958000"/>
            </a:gdLst>
            <a:ahLst/>
            <a:cxnLst/>
            <a:rect l="textAreaLeft" t="textAreaTop" r="textAreaRight" b="textAreaBottom"/>
            <a:pathLst>
              <a:path w="21600" h="29595">
                <a:moveTo>
                  <a:pt x="3600" y="0"/>
                </a:moveTo>
                <a:arcTo wR="3600" hR="3600" stAng="16200000" swAng="-5400000"/>
                <a:lnTo>
                  <a:pt x="0" y="25995"/>
                </a:lnTo>
                <a:arcTo wR="3600" hR="3600" stAng="10800000" swAng="-5400000"/>
                <a:lnTo>
                  <a:pt x="18000" y="29595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Freeform 218"/>
          <p:cNvSpPr/>
          <p:nvPr/>
        </p:nvSpPr>
        <p:spPr>
          <a:xfrm>
            <a:off x="8928360" y="6694560"/>
            <a:ext cx="36000" cy="53280"/>
          </a:xfrm>
          <a:custGeom>
            <a:avLst/>
            <a:gdLst>
              <a:gd name="textAreaLeft" fmla="*/ 1440 w 36000"/>
              <a:gd name="textAreaRight" fmla="*/ 34560 w 36000"/>
              <a:gd name="textAreaTop" fmla="*/ 1440 h 53280"/>
              <a:gd name="textAreaBottom" fmla="*/ 51840 h 53280"/>
            </a:gdLst>
            <a:ahLst/>
            <a:cxnLst/>
            <a:rect l="textAreaLeft" t="textAreaTop" r="textAreaRight" b="textAreaBottom"/>
            <a:pathLst>
              <a:path w="21600" h="31865">
                <a:moveTo>
                  <a:pt x="3600" y="0"/>
                </a:moveTo>
                <a:arcTo wR="3600" hR="3600" stAng="16200000" swAng="-5400000"/>
                <a:lnTo>
                  <a:pt x="0" y="28265"/>
                </a:lnTo>
                <a:arcTo wR="3600" hR="3600" stAng="10800000" swAng="-5400000"/>
                <a:lnTo>
                  <a:pt x="18000" y="31865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2213640" y="6040440"/>
            <a:ext cx="1901160" cy="360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Have you account? </a:t>
            </a:r>
            <a:r>
              <a:rPr lang="en-US" sz="1000" b="0" u="sng" strike="noStrike" spc="-1">
                <a:solidFill>
                  <a:srgbClr val="000000"/>
                </a:solidFill>
                <a:uFillTx/>
                <a:latin typeface="Arial"/>
              </a:rPr>
              <a:t>login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220"/>
          <p:cNvSpPr/>
          <p:nvPr/>
        </p:nvSpPr>
        <p:spPr>
          <a:xfrm>
            <a:off x="492120" y="2755080"/>
            <a:ext cx="3429000" cy="457200"/>
          </a:xfrm>
          <a:prstGeom prst="roundRect">
            <a:avLst>
              <a:gd name="adj" fmla="val 16667"/>
            </a:avLst>
          </a:pr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750" b="0" strike="noStrike" spc="-1">
                <a:solidFill>
                  <a:srgbClr val="E2D5D5"/>
                </a:solidFill>
                <a:latin typeface="Arial"/>
              </a:rPr>
              <a:t>Enter user email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04640" y="1551960"/>
            <a:ext cx="142416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Username:</a:t>
            </a:r>
          </a:p>
        </p:txBody>
      </p:sp>
      <p:pic>
        <p:nvPicPr>
          <p:cNvPr id="223" name="Picture 3"/>
          <p:cNvPicPr/>
          <p:nvPr/>
        </p:nvPicPr>
        <p:blipFill>
          <a:blip r:embed="rId2"/>
          <a:stretch/>
        </p:blipFill>
        <p:spPr>
          <a:xfrm>
            <a:off x="8249040" y="848160"/>
            <a:ext cx="2723760" cy="4866840"/>
          </a:xfrm>
          <a:prstGeom prst="rect">
            <a:avLst/>
          </a:prstGeom>
          <a:ln w="0">
            <a:noFill/>
          </a:ln>
        </p:spPr>
      </p:pic>
      <p:sp>
        <p:nvSpPr>
          <p:cNvPr id="224" name="Left-Right Arrow Callout 4"/>
          <p:cNvSpPr/>
          <p:nvPr/>
        </p:nvSpPr>
        <p:spPr>
          <a:xfrm>
            <a:off x="5486400" y="3258000"/>
            <a:ext cx="1922760" cy="856800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4812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imes New Roman"/>
              </a:rPr>
              <a:t>Sing up Form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Picture 1"/>
          <p:cNvPicPr/>
          <p:nvPr/>
        </p:nvPicPr>
        <p:blipFill>
          <a:blip r:embed="rId2"/>
          <a:stretch/>
        </p:blipFill>
        <p:spPr>
          <a:xfrm>
            <a:off x="0" y="0"/>
            <a:ext cx="5910120" cy="6857640"/>
          </a:xfrm>
          <a:prstGeom prst="rect">
            <a:avLst/>
          </a:prstGeom>
          <a:ln w="0">
            <a:noFill/>
          </a:ln>
        </p:spPr>
      </p:pic>
      <p:pic>
        <p:nvPicPr>
          <p:cNvPr id="226" name="Picture 2"/>
          <p:cNvPicPr/>
          <p:nvPr/>
        </p:nvPicPr>
        <p:blipFill>
          <a:blip r:embed="rId3"/>
          <a:stretch/>
        </p:blipFill>
        <p:spPr>
          <a:xfrm>
            <a:off x="7831800" y="803160"/>
            <a:ext cx="4215240" cy="5348520"/>
          </a:xfrm>
          <a:prstGeom prst="rect">
            <a:avLst/>
          </a:prstGeom>
          <a:ln w="0">
            <a:noFill/>
          </a:ln>
        </p:spPr>
      </p:pic>
      <p:sp>
        <p:nvSpPr>
          <p:cNvPr id="227" name="Left-Right Arrow Callout 3"/>
          <p:cNvSpPr/>
          <p:nvPr/>
        </p:nvSpPr>
        <p:spPr>
          <a:xfrm>
            <a:off x="5995440" y="2809080"/>
            <a:ext cx="1751400" cy="1444680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4812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chemeClr val="dk1"/>
                </a:solidFill>
                <a:latin typeface="Times New Roman"/>
              </a:rPr>
              <a:t> Main Screen&amp; Chat Page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Left-Right Arrow Callout 5"/>
          <p:cNvSpPr/>
          <p:nvPr/>
        </p:nvSpPr>
        <p:spPr>
          <a:xfrm>
            <a:off x="5232400" y="3478320"/>
            <a:ext cx="1798320" cy="580320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4812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chemeClr val="dk1"/>
                </a:solidFill>
                <a:latin typeface="Times New Roman"/>
              </a:rPr>
              <a:t>Setting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8" y="797669"/>
            <a:ext cx="4955702" cy="55977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975" y="1351281"/>
            <a:ext cx="4568825" cy="4876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2"/>
          <p:cNvSpPr/>
          <p:nvPr/>
        </p:nvSpPr>
        <p:spPr>
          <a:xfrm>
            <a:off x="320400" y="245160"/>
            <a:ext cx="259200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Flowchart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79" y="1046480"/>
            <a:ext cx="9174481" cy="53774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1"/>
          <p:cNvSpPr/>
          <p:nvPr/>
        </p:nvSpPr>
        <p:spPr>
          <a:xfrm>
            <a:off x="644760" y="498960"/>
            <a:ext cx="2817360" cy="100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0000"/>
                </a:solidFill>
                <a:latin typeface="Times New Roman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644760" y="1338480"/>
            <a:ext cx="11289240" cy="43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Building this system required the use of important computer networking principles.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The final application is easy to use and successfully allows for real-time messaging and fast file sharing.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Because it runs on a LAN without needing the internet, it offers users strong privacy.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In the future, new features could be added, like encryption for better security, video sharing, offline messaging, and support for Wi-Fi and different devices (cross-platform).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Overall, this is a very useful system and serves as an excellent tool for learning about Networking, Software Development, and System Design.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461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Microsoft YaHei</vt:lpstr>
      <vt:lpstr>Arial</vt:lpstr>
      <vt:lpstr>Calibri</vt:lpstr>
      <vt:lpstr>Calibri Light</vt:lpstr>
      <vt:lpstr>DejaVu Sans</vt:lpstr>
      <vt:lpstr>rsfs10</vt:lpstr>
      <vt:lpstr>Symbol</vt:lpstr>
      <vt:lpstr>Tahoma</vt:lpstr>
      <vt:lpstr>Times New Roman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zaunaw53@gmail.com</dc:creator>
  <dc:description/>
  <cp:lastModifiedBy>zaunaw53@gmail.com</cp:lastModifiedBy>
  <cp:revision>93</cp:revision>
  <dcterms:created xsi:type="dcterms:W3CDTF">2025-08-19T10:48:11Z</dcterms:created>
  <dcterms:modified xsi:type="dcterms:W3CDTF">2025-08-23T05:03:17Z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