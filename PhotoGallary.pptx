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70" r:id="rId5"/>
    <p:sldId id="260" r:id="rId6"/>
    <p:sldId id="261" r:id="rId7"/>
    <p:sldId id="266" r:id="rId8"/>
    <p:sldId id="269" r:id="rId9"/>
    <p:sldId id="262" r:id="rId10"/>
    <p:sldId id="265" r:id="rId11"/>
    <p:sldId id="267" r:id="rId12"/>
    <p:sldId id="268" r:id="rId13"/>
    <p:sldId id="259" r:id="rId14"/>
    <p:sldId id="26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D84EFB-3BA4-45AE-A8D8-7BA109896ECC}"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D933DC-AA8B-417A-ABF2-AC3288F47DAB}" type="slidenum">
              <a:rPr lang="en-US" smtClean="0"/>
              <a:t>‹#›</a:t>
            </a:fld>
            <a:endParaRPr lang="en-US"/>
          </a:p>
        </p:txBody>
      </p:sp>
    </p:spTree>
    <p:extLst>
      <p:ext uri="{BB962C8B-B14F-4D97-AF65-F5344CB8AC3E}">
        <p14:creationId xmlns:p14="http://schemas.microsoft.com/office/powerpoint/2010/main" val="105679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524FD9-6B91-43F2-8107-2AF8E27460F8}" type="datetime1">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3106037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8B884C-CFC9-42D8-AE06-6297CA8BA375}" type="datetime1">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811034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FF6C686-FAD0-4534-9A9F-A81C7F703BCA}" type="datetime1">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731963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FB243A7-E4CA-4CF5-BF65-6FF59D4DC7D7}" type="datetime1">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2127198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8343CCA-8B55-4A40-9CA0-15BEEC3126BC}" type="datetime1">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26256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0F7820A-96A8-47AF-8AAC-E2E36392D96E}" type="datetime1">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1230490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176F6D-574F-4279-B8D8-0DB0DFF404D0}" type="datetime1">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3415467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0C3E87B-A85A-49EE-854B-FEDA9337CE4F}" type="datetime1">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1563681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712A33D-3394-4D65-9D03-E38F122798C3}" type="datetime1">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178801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288704-0C00-4E71-8B23-9D6EB612133F}" type="datetime1">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2804522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634903-558B-40BB-B071-586DD871836D}" type="datetime1">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a:t>
            </a:fld>
            <a:endParaRPr lang="en-US"/>
          </a:p>
        </p:txBody>
      </p:sp>
    </p:spTree>
    <p:extLst>
      <p:ext uri="{BB962C8B-B14F-4D97-AF65-F5344CB8AC3E}">
        <p14:creationId xmlns:p14="http://schemas.microsoft.com/office/powerpoint/2010/main" val="361741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D6700-C7E1-407F-975F-DA498E274B94}" type="datetime1">
              <a:rPr lang="en-US" smtClean="0"/>
              <a:t>11/7/2025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6764F5-3FDB-4372-885F-E456D97BAF7C}" type="slidenum">
              <a:rPr lang="en-US" smtClean="0"/>
              <a:t>‹#›</a:t>
            </a:fld>
            <a:endParaRPr lang="en-US"/>
          </a:p>
        </p:txBody>
      </p:sp>
    </p:spTree>
    <p:extLst>
      <p:ext uri="{BB962C8B-B14F-4D97-AF65-F5344CB8AC3E}">
        <p14:creationId xmlns:p14="http://schemas.microsoft.com/office/powerpoint/2010/main" val="225025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4750"/>
          <a:stretch/>
        </p:blipFill>
        <p:spPr>
          <a:xfrm>
            <a:off x="562943" y="459055"/>
            <a:ext cx="3144282" cy="2639505"/>
          </a:xfrm>
          <a:prstGeom prst="rect">
            <a:avLst/>
          </a:prstGeom>
        </p:spPr>
      </p:pic>
      <p:sp>
        <p:nvSpPr>
          <p:cNvPr id="6" name="TextBox 5"/>
          <p:cNvSpPr txBox="1"/>
          <p:nvPr/>
        </p:nvSpPr>
        <p:spPr>
          <a:xfrm>
            <a:off x="4562573" y="965246"/>
            <a:ext cx="3817856" cy="477054"/>
          </a:xfrm>
          <a:prstGeom prst="rect">
            <a:avLst/>
          </a:prstGeom>
          <a:noFill/>
        </p:spPr>
        <p:txBody>
          <a:bodyPr wrap="square" rtlCol="0">
            <a:spAutoFit/>
          </a:bodyPr>
          <a:lstStyle/>
          <a:p>
            <a:r>
              <a:rPr lang="en-US" sz="2500" dirty="0" smtClean="0">
                <a:latin typeface="Times New Roman" panose="02020603050405020304" pitchFamily="18" charset="0"/>
                <a:cs typeface="Times New Roman" panose="02020603050405020304" pitchFamily="18" charset="0"/>
              </a:rPr>
              <a:t>Image Gallery</a:t>
            </a:r>
            <a:endParaRPr lang="en-US" sz="2500" dirty="0">
              <a:latin typeface="Times New Roman" panose="02020603050405020304" pitchFamily="18" charset="0"/>
              <a:cs typeface="Times New Roman" panose="02020603050405020304" pitchFamily="18" charset="0"/>
            </a:endParaRPr>
          </a:p>
        </p:txBody>
      </p:sp>
      <p:sp>
        <p:nvSpPr>
          <p:cNvPr id="7" name="TextBox 5"/>
          <p:cNvSpPr/>
          <p:nvPr/>
        </p:nvSpPr>
        <p:spPr>
          <a:xfrm>
            <a:off x="2611102" y="3406786"/>
            <a:ext cx="253548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0" strike="noStrike" spc="-1" dirty="0">
                <a:solidFill>
                  <a:srgbClr val="000000"/>
                </a:solidFill>
                <a:latin typeface="Times New Roman"/>
              </a:rPr>
              <a:t>Group Members</a:t>
            </a:r>
            <a:endParaRPr lang="en-US" sz="2000" b="0" strike="noStrike" spc="-1" dirty="0">
              <a:solidFill>
                <a:srgbClr val="000000"/>
              </a:solidFill>
              <a:latin typeface="Arial"/>
            </a:endParaRPr>
          </a:p>
        </p:txBody>
      </p:sp>
      <p:sp>
        <p:nvSpPr>
          <p:cNvPr id="8" name="TextBox 6"/>
          <p:cNvSpPr/>
          <p:nvPr/>
        </p:nvSpPr>
        <p:spPr>
          <a:xfrm>
            <a:off x="5439515" y="3381364"/>
            <a:ext cx="6673680" cy="255309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2000" b="0" strike="noStrike" spc="-1" dirty="0" smtClean="0">
                <a:solidFill>
                  <a:srgbClr val="000000"/>
                </a:solidFill>
                <a:latin typeface="Times New Roman"/>
              </a:rPr>
              <a:t>3Cs-02</a:t>
            </a:r>
            <a:r>
              <a:rPr lang="en-US" sz="2000" b="0" strike="noStrike" spc="-1" dirty="0">
                <a:solidFill>
                  <a:srgbClr val="000000"/>
                </a:solidFill>
                <a:latin typeface="Times New Roman"/>
              </a:rPr>
              <a:t>: </a:t>
            </a:r>
            <a:r>
              <a:rPr lang="en-US" sz="2000" b="0" strike="noStrike" spc="-1" dirty="0" err="1">
                <a:solidFill>
                  <a:srgbClr val="000000"/>
                </a:solidFill>
                <a:latin typeface="Times New Roman"/>
              </a:rPr>
              <a:t>Jangmaw</a:t>
            </a:r>
            <a:r>
              <a:rPr lang="en-US" sz="2000" b="0" strike="noStrike" spc="-1" dirty="0">
                <a:solidFill>
                  <a:srgbClr val="000000"/>
                </a:solidFill>
                <a:latin typeface="Times New Roman"/>
              </a:rPr>
              <a:t> Sunday </a:t>
            </a:r>
            <a:r>
              <a:rPr lang="en-US" sz="2000" b="0" strike="noStrike" spc="-1" dirty="0" err="1" smtClean="0">
                <a:solidFill>
                  <a:srgbClr val="000000"/>
                </a:solidFill>
                <a:latin typeface="Times New Roman"/>
              </a:rPr>
              <a:t>Awng</a:t>
            </a:r>
            <a:endParaRPr lang="en-US" sz="2000" b="0" strike="noStrike" spc="-1" dirty="0" smtClean="0">
              <a:solidFill>
                <a:srgbClr val="000000"/>
              </a:solidFill>
              <a:latin typeface="Times New Roman"/>
            </a:endParaRPr>
          </a:p>
          <a:p>
            <a:r>
              <a:rPr lang="en-US" sz="2000" spc="-1" dirty="0">
                <a:solidFill>
                  <a:srgbClr val="000000"/>
                </a:solidFill>
                <a:latin typeface="Times New Roman"/>
              </a:rPr>
              <a:t>3Cs-03: </a:t>
            </a:r>
            <a:r>
              <a:rPr lang="en-US" sz="2000" spc="-1" dirty="0" err="1">
                <a:solidFill>
                  <a:srgbClr val="000000"/>
                </a:solidFill>
                <a:latin typeface="Times New Roman"/>
              </a:rPr>
              <a:t>Labang</a:t>
            </a:r>
            <a:r>
              <a:rPr lang="en-US" sz="2000" spc="-1" dirty="0">
                <a:solidFill>
                  <a:srgbClr val="000000"/>
                </a:solidFill>
                <a:latin typeface="Times New Roman"/>
              </a:rPr>
              <a:t> </a:t>
            </a:r>
            <a:r>
              <a:rPr lang="en-US" sz="2000" spc="-1" dirty="0" err="1">
                <a:solidFill>
                  <a:srgbClr val="000000"/>
                </a:solidFill>
                <a:latin typeface="Times New Roman"/>
              </a:rPr>
              <a:t>Myu</a:t>
            </a:r>
            <a:r>
              <a:rPr lang="en-US" sz="2000" spc="-1" dirty="0">
                <a:solidFill>
                  <a:srgbClr val="000000"/>
                </a:solidFill>
                <a:latin typeface="Times New Roman"/>
              </a:rPr>
              <a:t> Ring </a:t>
            </a:r>
            <a:r>
              <a:rPr lang="en-US" sz="2000" spc="-1" dirty="0" err="1" smtClean="0">
                <a:solidFill>
                  <a:srgbClr val="000000"/>
                </a:solidFill>
                <a:latin typeface="Times New Roman"/>
              </a:rPr>
              <a:t>Awng</a:t>
            </a:r>
            <a:endParaRPr lang="en-US" sz="2000" b="0" strike="noStrike" spc="-1" dirty="0">
              <a:solidFill>
                <a:srgbClr val="000000"/>
              </a:solidFill>
              <a:latin typeface="Arial"/>
            </a:endParaRPr>
          </a:p>
          <a:p>
            <a:pPr>
              <a:lnSpc>
                <a:spcPct val="100000"/>
              </a:lnSpc>
            </a:pPr>
            <a:r>
              <a:rPr lang="en-US" sz="2000" b="0" strike="noStrike" spc="-1" dirty="0" smtClean="0">
                <a:solidFill>
                  <a:srgbClr val="000000"/>
                </a:solidFill>
                <a:latin typeface="Times New Roman"/>
              </a:rPr>
              <a:t>3Cs-05</a:t>
            </a:r>
            <a:r>
              <a:rPr lang="en-US" sz="2000" b="0" strike="noStrike" spc="-1" dirty="0">
                <a:solidFill>
                  <a:srgbClr val="000000"/>
                </a:solidFill>
                <a:latin typeface="Times New Roman"/>
              </a:rPr>
              <a:t>: </a:t>
            </a:r>
            <a:r>
              <a:rPr lang="en-US" sz="2000" b="0" strike="noStrike" spc="-1" dirty="0" err="1">
                <a:solidFill>
                  <a:srgbClr val="000000"/>
                </a:solidFill>
                <a:latin typeface="Times New Roman"/>
              </a:rPr>
              <a:t>Lahtaw</a:t>
            </a:r>
            <a:r>
              <a:rPr lang="en-US" sz="2000" b="0" strike="noStrike" spc="-1" dirty="0">
                <a:solidFill>
                  <a:srgbClr val="000000"/>
                </a:solidFill>
                <a:latin typeface="Times New Roman"/>
              </a:rPr>
              <a:t> </a:t>
            </a:r>
            <a:r>
              <a:rPr lang="en-US" sz="2000" b="0" strike="noStrike" spc="-1" dirty="0" err="1">
                <a:solidFill>
                  <a:srgbClr val="000000"/>
                </a:solidFill>
                <a:latin typeface="Times New Roman"/>
              </a:rPr>
              <a:t>Bawk</a:t>
            </a:r>
            <a:r>
              <a:rPr lang="en-US" sz="2000" b="0" strike="noStrike" spc="-1" dirty="0">
                <a:solidFill>
                  <a:srgbClr val="000000"/>
                </a:solidFill>
                <a:latin typeface="Times New Roman"/>
              </a:rPr>
              <a:t> Li</a:t>
            </a:r>
            <a:endParaRPr lang="en-US" sz="2000" b="0" strike="noStrike" spc="-1" dirty="0">
              <a:solidFill>
                <a:srgbClr val="000000"/>
              </a:solidFill>
              <a:latin typeface="Arial"/>
            </a:endParaRPr>
          </a:p>
          <a:p>
            <a:r>
              <a:rPr lang="en-US" sz="2000" spc="-1" dirty="0" smtClean="0">
                <a:solidFill>
                  <a:srgbClr val="000000"/>
                </a:solidFill>
                <a:latin typeface="Times New Roman"/>
              </a:rPr>
              <a:t>3Cs-11</a:t>
            </a:r>
            <a:r>
              <a:rPr lang="en-US" sz="2000" spc="-1" dirty="0">
                <a:solidFill>
                  <a:srgbClr val="000000"/>
                </a:solidFill>
                <a:latin typeface="Times New Roman"/>
              </a:rPr>
              <a:t>: </a:t>
            </a:r>
            <a:r>
              <a:rPr lang="en-US" sz="2000" spc="-1" dirty="0" err="1">
                <a:solidFill>
                  <a:srgbClr val="000000"/>
                </a:solidFill>
                <a:latin typeface="Times New Roman"/>
              </a:rPr>
              <a:t>Mwihpu</a:t>
            </a:r>
            <a:r>
              <a:rPr lang="en-US" sz="2000" spc="-1" dirty="0">
                <a:solidFill>
                  <a:srgbClr val="000000"/>
                </a:solidFill>
                <a:latin typeface="Times New Roman"/>
              </a:rPr>
              <a:t> Nan </a:t>
            </a:r>
            <a:r>
              <a:rPr lang="en-US" sz="2000" spc="-1" dirty="0" smtClean="0">
                <a:solidFill>
                  <a:srgbClr val="000000"/>
                </a:solidFill>
                <a:latin typeface="Times New Roman"/>
              </a:rPr>
              <a:t>Lung</a:t>
            </a:r>
            <a:endParaRPr lang="en-US" sz="2000" b="0" strike="noStrike" spc="-1" dirty="0">
              <a:solidFill>
                <a:srgbClr val="000000"/>
              </a:solidFill>
              <a:latin typeface="Arial"/>
            </a:endParaRPr>
          </a:p>
          <a:p>
            <a:pPr>
              <a:lnSpc>
                <a:spcPct val="100000"/>
              </a:lnSpc>
            </a:pPr>
            <a:r>
              <a:rPr lang="en-US" sz="2000" spc="-1" dirty="0" smtClean="0">
                <a:solidFill>
                  <a:srgbClr val="000000"/>
                </a:solidFill>
                <a:latin typeface="Times New Roman"/>
              </a:rPr>
              <a:t>3Cs-16</a:t>
            </a:r>
            <a:r>
              <a:rPr lang="en-US" sz="2000" spc="-1" dirty="0">
                <a:solidFill>
                  <a:srgbClr val="000000"/>
                </a:solidFill>
                <a:latin typeface="Times New Roman"/>
              </a:rPr>
              <a:t>: </a:t>
            </a:r>
            <a:r>
              <a:rPr lang="en-US" sz="2000" spc="-1" dirty="0" err="1">
                <a:solidFill>
                  <a:srgbClr val="000000"/>
                </a:solidFill>
                <a:latin typeface="Times New Roman"/>
              </a:rPr>
              <a:t>Ngadawng</a:t>
            </a:r>
            <a:r>
              <a:rPr lang="en-US" sz="2000" spc="-1" dirty="0">
                <a:solidFill>
                  <a:srgbClr val="000000"/>
                </a:solidFill>
                <a:latin typeface="Times New Roman"/>
              </a:rPr>
              <a:t> Ja Seng </a:t>
            </a:r>
            <a:r>
              <a:rPr lang="en-US" sz="2000" spc="-1" dirty="0" err="1">
                <a:solidFill>
                  <a:srgbClr val="000000"/>
                </a:solidFill>
                <a:latin typeface="Times New Roman"/>
              </a:rPr>
              <a:t>Htoi</a:t>
            </a:r>
            <a:endParaRPr lang="en-US" sz="2000" b="0" strike="noStrike" spc="-1" dirty="0">
              <a:solidFill>
                <a:srgbClr val="000000"/>
              </a:solidFill>
              <a:latin typeface="Arial"/>
            </a:endParaRPr>
          </a:p>
          <a:p>
            <a:pPr>
              <a:lnSpc>
                <a:spcPct val="100000"/>
              </a:lnSpc>
            </a:pPr>
            <a:r>
              <a:rPr lang="en-US" sz="2000" b="0" strike="noStrike" spc="-1" dirty="0">
                <a:solidFill>
                  <a:srgbClr val="000000"/>
                </a:solidFill>
                <a:latin typeface="Times New Roman"/>
              </a:rPr>
              <a:t>3Cs-17: Sham </a:t>
            </a:r>
            <a:r>
              <a:rPr lang="en-US" sz="2000" b="0" strike="noStrike" spc="-1" dirty="0" err="1">
                <a:solidFill>
                  <a:srgbClr val="000000"/>
                </a:solidFill>
                <a:latin typeface="Times New Roman"/>
              </a:rPr>
              <a:t>Sut</a:t>
            </a:r>
            <a:r>
              <a:rPr lang="en-US" sz="2000" b="0" strike="noStrike" spc="-1" dirty="0">
                <a:solidFill>
                  <a:srgbClr val="000000"/>
                </a:solidFill>
                <a:latin typeface="Times New Roman"/>
              </a:rPr>
              <a:t> Ring </a:t>
            </a:r>
            <a:r>
              <a:rPr lang="en-US" sz="2000" b="0" strike="noStrike" spc="-1" dirty="0" err="1" smtClean="0">
                <a:solidFill>
                  <a:srgbClr val="000000"/>
                </a:solidFill>
                <a:latin typeface="Times New Roman"/>
              </a:rPr>
              <a:t>Naw</a:t>
            </a:r>
            <a:endParaRPr lang="en-US" sz="2000" b="0" strike="noStrike" spc="-1" dirty="0" smtClean="0">
              <a:solidFill>
                <a:srgbClr val="000000"/>
              </a:solidFill>
              <a:latin typeface="Times New Roman"/>
            </a:endParaRPr>
          </a:p>
          <a:p>
            <a:r>
              <a:rPr lang="en-US" sz="2000" spc="-1" dirty="0">
                <a:solidFill>
                  <a:srgbClr val="000000"/>
                </a:solidFill>
                <a:latin typeface="Times New Roman"/>
              </a:rPr>
              <a:t>3Cs-19: </a:t>
            </a:r>
            <a:r>
              <a:rPr lang="en-US" sz="2000" spc="-1" dirty="0" err="1">
                <a:solidFill>
                  <a:srgbClr val="000000"/>
                </a:solidFill>
                <a:latin typeface="Times New Roman"/>
              </a:rPr>
              <a:t>Wabaw</a:t>
            </a:r>
            <a:r>
              <a:rPr lang="en-US" sz="2000" spc="-1" dirty="0">
                <a:solidFill>
                  <a:srgbClr val="000000"/>
                </a:solidFill>
                <a:latin typeface="Times New Roman"/>
              </a:rPr>
              <a:t> </a:t>
            </a:r>
            <a:r>
              <a:rPr lang="en-US" sz="2000" spc="-1" dirty="0" err="1">
                <a:solidFill>
                  <a:srgbClr val="000000"/>
                </a:solidFill>
                <a:latin typeface="Times New Roman"/>
              </a:rPr>
              <a:t>Zau</a:t>
            </a:r>
            <a:r>
              <a:rPr lang="en-US" sz="2000" spc="-1" dirty="0">
                <a:solidFill>
                  <a:srgbClr val="000000"/>
                </a:solidFill>
                <a:latin typeface="Times New Roman"/>
              </a:rPr>
              <a:t> </a:t>
            </a:r>
            <a:r>
              <a:rPr lang="en-US" sz="2000" spc="-1" dirty="0" err="1" smtClean="0">
                <a:solidFill>
                  <a:srgbClr val="000000"/>
                </a:solidFill>
                <a:latin typeface="Times New Roman"/>
              </a:rPr>
              <a:t>Ing</a:t>
            </a:r>
            <a:endParaRPr lang="en-US" sz="2000" spc="-1" dirty="0" smtClean="0">
              <a:solidFill>
                <a:srgbClr val="000000"/>
              </a:solidFill>
              <a:latin typeface="Times New Roman"/>
            </a:endParaRPr>
          </a:p>
          <a:p>
            <a:r>
              <a:rPr lang="en-US" sz="2000" spc="-1" dirty="0">
                <a:solidFill>
                  <a:srgbClr val="000000"/>
                </a:solidFill>
                <a:latin typeface="Times New Roman"/>
              </a:rPr>
              <a:t>3Cs-21: </a:t>
            </a:r>
            <a:r>
              <a:rPr lang="en-US" sz="2000" spc="-1" dirty="0" err="1">
                <a:solidFill>
                  <a:srgbClr val="000000"/>
                </a:solidFill>
                <a:latin typeface="Times New Roman"/>
              </a:rPr>
              <a:t>Zunwa</a:t>
            </a:r>
            <a:r>
              <a:rPr lang="en-US" sz="2000" spc="-1" dirty="0">
                <a:solidFill>
                  <a:srgbClr val="000000"/>
                </a:solidFill>
                <a:latin typeface="Times New Roman"/>
              </a:rPr>
              <a:t> Zau </a:t>
            </a:r>
            <a:r>
              <a:rPr lang="en-US" sz="2000" spc="-1" dirty="0" smtClean="0">
                <a:solidFill>
                  <a:srgbClr val="000000"/>
                </a:solidFill>
                <a:latin typeface="Times New Roman"/>
              </a:rPr>
              <a:t>Ring</a:t>
            </a:r>
            <a:endParaRPr lang="en-US" sz="2000" spc="-1" dirty="0">
              <a:solidFill>
                <a:srgbClr val="000000"/>
              </a:solidFill>
              <a:latin typeface="Times New Roman"/>
            </a:endParaRPr>
          </a:p>
        </p:txBody>
      </p:sp>
      <p:sp>
        <p:nvSpPr>
          <p:cNvPr id="2" name="Date Placeholder 1"/>
          <p:cNvSpPr>
            <a:spLocks noGrp="1"/>
          </p:cNvSpPr>
          <p:nvPr>
            <p:ph type="dt" sz="half" idx="10"/>
          </p:nvPr>
        </p:nvSpPr>
        <p:spPr/>
        <p:txBody>
          <a:bodyPr/>
          <a:lstStyle/>
          <a:p>
            <a:fld id="{5BF22841-06B0-48D9-BD32-D42B4721ADAD}" type="datetime1">
              <a:rPr lang="en-US" smtClean="0"/>
              <a:t>11/7/2025</a:t>
            </a:fld>
            <a:endParaRPr lang="en-US"/>
          </a:p>
        </p:txBody>
      </p:sp>
      <p:sp>
        <p:nvSpPr>
          <p:cNvPr id="5" name="Slide Number Placeholder 4"/>
          <p:cNvSpPr>
            <a:spLocks noGrp="1"/>
          </p:cNvSpPr>
          <p:nvPr>
            <p:ph type="sldNum" sz="quarter" idx="12"/>
          </p:nvPr>
        </p:nvSpPr>
        <p:spPr/>
        <p:txBody>
          <a:bodyPr/>
          <a:lstStyle/>
          <a:p>
            <a:fld id="{AF6764F5-3FDB-4372-885F-E456D97BAF7C}" type="slidenum">
              <a:rPr lang="en-US" smtClean="0"/>
              <a:t>1</a:t>
            </a:fld>
            <a:endParaRPr lang="en-US"/>
          </a:p>
        </p:txBody>
      </p:sp>
      <p:sp>
        <p:nvSpPr>
          <p:cNvPr id="3" name="TextBox 2"/>
          <p:cNvSpPr txBox="1"/>
          <p:nvPr/>
        </p:nvSpPr>
        <p:spPr>
          <a:xfrm>
            <a:off x="3581400" y="459055"/>
            <a:ext cx="4449451" cy="477054"/>
          </a:xfrm>
          <a:prstGeom prst="rect">
            <a:avLst/>
          </a:prstGeom>
          <a:noFill/>
        </p:spPr>
        <p:txBody>
          <a:bodyPr wrap="square" rtlCol="0">
            <a:spAutoFit/>
          </a:bodyPr>
          <a:lstStyle/>
          <a:p>
            <a:r>
              <a:rPr lang="en-US" sz="2500" dirty="0" smtClean="0">
                <a:latin typeface="Times New Roman" panose="02020603050405020304" pitchFamily="18" charset="0"/>
                <a:cs typeface="Times New Roman" panose="02020603050405020304" pitchFamily="18" charset="0"/>
              </a:rPr>
              <a:t>Cloud Computing &amp; DevOps</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663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25269" y="743258"/>
            <a:ext cx="1806887" cy="553998"/>
          </a:xfrm>
          <a:prstGeom prst="rect">
            <a:avLst/>
          </a:prstGeom>
          <a:noFill/>
        </p:spPr>
        <p:txBody>
          <a:bodyPr wrap="square" rtlCol="0">
            <a:spAutoFit/>
          </a:bodyPr>
          <a:lstStyle/>
          <a:p>
            <a:r>
              <a:rPr lang="en-US" sz="3000" dirty="0" smtClean="0">
                <a:latin typeface="Times New Roman" panose="02020603050405020304" pitchFamily="18" charset="0"/>
                <a:cs typeface="Times New Roman" panose="02020603050405020304" pitchFamily="18" charset="0"/>
              </a:rPr>
              <a:t>Contents </a:t>
            </a:r>
            <a:endParaRPr lang="en-US" sz="3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366022" y="1297256"/>
            <a:ext cx="6616178" cy="5286062"/>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Abstract</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Objective</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Architecture Diagram</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Data Flow Diagram</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Use case Diagram &amp; User Interface</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Design Justification</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Step-by-step Product Selection Documentation</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Scalability Design</a:t>
            </a:r>
          </a:p>
          <a:p>
            <a:pPr marL="342900" indent="-342900">
              <a:lnSpc>
                <a:spcPct val="150000"/>
              </a:lnSpc>
              <a:buFont typeface="Wingdings" panose="05000000000000000000" pitchFamily="2" charset="2"/>
              <a:buChar char="q"/>
            </a:pPr>
            <a:r>
              <a:rPr lang="en-US" sz="2500" dirty="0" smtClean="0">
                <a:latin typeface="Times New Roman" panose="02020603050405020304" pitchFamily="18" charset="0"/>
                <a:cs typeface="Times New Roman" panose="02020603050405020304" pitchFamily="18" charset="0"/>
              </a:rPr>
              <a:t>Implementation Roadmap</a:t>
            </a:r>
          </a:p>
        </p:txBody>
      </p:sp>
      <p:sp>
        <p:nvSpPr>
          <p:cNvPr id="2" name="Date Placeholder 1"/>
          <p:cNvSpPr>
            <a:spLocks noGrp="1"/>
          </p:cNvSpPr>
          <p:nvPr>
            <p:ph type="dt" sz="half" idx="10"/>
          </p:nvPr>
        </p:nvSpPr>
        <p:spPr/>
        <p:txBody>
          <a:bodyPr/>
          <a:lstStyle/>
          <a:p>
            <a:fld id="{6347EED2-C657-4976-B93F-E43325AC77B9}" type="datetime1">
              <a:rPr lang="en-US" smtClean="0"/>
              <a:t>11/7/2025</a:t>
            </a:fld>
            <a:endParaRPr lang="en-US"/>
          </a:p>
        </p:txBody>
      </p:sp>
      <p:sp>
        <p:nvSpPr>
          <p:cNvPr id="4" name="Slide Number Placeholder 3"/>
          <p:cNvSpPr>
            <a:spLocks noGrp="1"/>
          </p:cNvSpPr>
          <p:nvPr>
            <p:ph type="sldNum" sz="quarter" idx="12"/>
          </p:nvPr>
        </p:nvSpPr>
        <p:spPr/>
        <p:txBody>
          <a:bodyPr/>
          <a:lstStyle/>
          <a:p>
            <a:fld id="{AF6764F5-3FDB-4372-885F-E456D97BAF7C}" type="slidenum">
              <a:rPr lang="en-US" smtClean="0"/>
              <a:t>2</a:t>
            </a:fld>
            <a:endParaRPr lang="en-US"/>
          </a:p>
        </p:txBody>
      </p:sp>
    </p:spTree>
    <p:extLst>
      <p:ext uri="{BB962C8B-B14F-4D97-AF65-F5344CB8AC3E}">
        <p14:creationId xmlns:p14="http://schemas.microsoft.com/office/powerpoint/2010/main" val="1744749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5801" y="838987"/>
            <a:ext cx="1979630" cy="553998"/>
          </a:xfrm>
          <a:prstGeom prst="rect">
            <a:avLst/>
          </a:prstGeom>
          <a:noFill/>
        </p:spPr>
        <p:txBody>
          <a:bodyPr wrap="square" rtlCol="0">
            <a:spAutoFit/>
          </a:bodyPr>
          <a:lstStyle/>
          <a:p>
            <a:pPr marL="342900" indent="-342900">
              <a:buFont typeface="Wingdings" panose="05000000000000000000" pitchFamily="2" charset="2"/>
              <a:buChar char="Ø"/>
            </a:pPr>
            <a:r>
              <a:rPr lang="en-US" sz="3000" dirty="0" smtClean="0">
                <a:latin typeface="Times New Roman" panose="02020603050405020304" pitchFamily="18" charset="0"/>
                <a:cs typeface="Times New Roman" panose="02020603050405020304" pitchFamily="18" charset="0"/>
              </a:rPr>
              <a:t>Abstract </a:t>
            </a:r>
            <a:endParaRPr lang="en-US" sz="3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367779" y="1554737"/>
            <a:ext cx="8787865" cy="4639860"/>
          </a:xfrm>
          <a:prstGeom prst="rect">
            <a:avLst/>
          </a:prstGeom>
          <a:noFill/>
        </p:spPr>
        <p:txBody>
          <a:bodyPr wrap="square" rtlCol="0">
            <a:spAutoFit/>
          </a:bodyPr>
          <a:lstStyle/>
          <a:p>
            <a:pPr algn="just">
              <a:lnSpc>
                <a:spcPct val="150000"/>
              </a:lnSpc>
            </a:pPr>
            <a:r>
              <a:rPr lang="en-US" sz="2500" dirty="0" smtClean="0">
                <a:latin typeface="Times New Roman" panose="02020603050405020304" pitchFamily="18" charset="0"/>
                <a:cs typeface="Times New Roman" panose="02020603050405020304" pitchFamily="18" charset="0"/>
              </a:rPr>
              <a:t>	G1N8CSF </a:t>
            </a:r>
            <a:r>
              <a:rPr lang="en-US" sz="2500" dirty="0">
                <a:latin typeface="Times New Roman" panose="02020603050405020304" pitchFamily="18" charset="0"/>
                <a:cs typeface="Times New Roman" panose="02020603050405020304" pitchFamily="18" charset="0"/>
              </a:rPr>
              <a:t>Gallery Pro is a photo management web application designed to allow users to easily upload, organize, and view their photos</a:t>
            </a:r>
            <a:r>
              <a:rPr lang="en-US" sz="2500" dirty="0" smtClean="0">
                <a:latin typeface="Times New Roman" panose="02020603050405020304" pitchFamily="18" charset="0"/>
                <a:cs typeface="Times New Roman" panose="02020603050405020304" pitchFamily="18" charset="0"/>
              </a:rPr>
              <a:t>. This </a:t>
            </a:r>
            <a:r>
              <a:rPr lang="en-US" sz="2500" dirty="0">
                <a:latin typeface="Times New Roman" panose="02020603050405020304" pitchFamily="18" charset="0"/>
                <a:cs typeface="Times New Roman" panose="02020603050405020304" pitchFamily="18" charset="0"/>
              </a:rPr>
              <a:t>application is built with a modern UI/UX design and allows photos to be displayed in either a Masonry (wall-style layout) or Grid view. It utilizes ImgBB cloud services.Users can filter photos by Date, Name, or Size, and can also check information such as the total number of photos, usage duration, and total data storage size.</a:t>
            </a:r>
          </a:p>
        </p:txBody>
      </p:sp>
      <p:sp>
        <p:nvSpPr>
          <p:cNvPr id="2" name="Date Placeholder 1"/>
          <p:cNvSpPr>
            <a:spLocks noGrp="1"/>
          </p:cNvSpPr>
          <p:nvPr>
            <p:ph type="dt" sz="half" idx="10"/>
          </p:nvPr>
        </p:nvSpPr>
        <p:spPr/>
        <p:txBody>
          <a:bodyPr/>
          <a:lstStyle/>
          <a:p>
            <a:fld id="{BBE58CDC-24B0-4AE5-BB17-4B86A9593647}" type="datetime1">
              <a:rPr lang="en-US" smtClean="0"/>
              <a:t>11/7/2025</a:t>
            </a:fld>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3</a:t>
            </a:fld>
            <a:endParaRPr lang="en-US"/>
          </a:p>
        </p:txBody>
      </p:sp>
    </p:spTree>
    <p:extLst>
      <p:ext uri="{BB962C8B-B14F-4D97-AF65-F5344CB8AC3E}">
        <p14:creationId xmlns:p14="http://schemas.microsoft.com/office/powerpoint/2010/main" val="36160438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73784" y="729017"/>
            <a:ext cx="2752627" cy="553998"/>
          </a:xfrm>
          <a:prstGeom prst="rect">
            <a:avLst/>
          </a:prstGeom>
          <a:noFill/>
        </p:spPr>
        <p:txBody>
          <a:bodyPr wrap="square" rtlCol="0">
            <a:spAutoFit/>
          </a:bodyPr>
          <a:lstStyle/>
          <a:p>
            <a:pPr marL="342900" indent="-342900">
              <a:buFont typeface="Wingdings" panose="05000000000000000000" pitchFamily="2" charset="2"/>
              <a:buChar char="Ø"/>
            </a:pPr>
            <a:r>
              <a:rPr lang="en-US" sz="3000" dirty="0" smtClean="0">
                <a:latin typeface="Times New Roman" panose="02020603050405020304" pitchFamily="18" charset="0"/>
                <a:cs typeface="Times New Roman" panose="02020603050405020304" pitchFamily="18" charset="0"/>
              </a:rPr>
              <a:t>Objective</a:t>
            </a:r>
            <a:endParaRPr lang="en-US" sz="3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566421" y="1321971"/>
            <a:ext cx="9059158" cy="5216941"/>
          </a:xfrm>
          <a:prstGeom prst="rect">
            <a:avLst/>
          </a:prstGeom>
          <a:noFill/>
        </p:spPr>
        <p:txBody>
          <a:bodyPr wrap="square" rtlCol="0">
            <a:spAutoFit/>
          </a:bodyPr>
          <a:lstStyle/>
          <a:p>
            <a:pPr algn="just">
              <a:lnSpc>
                <a:spcPct val="150000"/>
              </a:lnSpc>
            </a:pPr>
            <a:r>
              <a:rPr lang="en-US" sz="2500" dirty="0" smtClean="0">
                <a:latin typeface="Times New Roman" panose="02020603050405020304" pitchFamily="18" charset="0"/>
                <a:cs typeface="Times New Roman" panose="02020603050405020304" pitchFamily="18" charset="0"/>
              </a:rPr>
              <a:t>Cloud storage – To be stored in the cloud without requiring dedicated memory.</a:t>
            </a:r>
          </a:p>
          <a:p>
            <a:pPr algn="just">
              <a:lnSpc>
                <a:spcPct val="150000"/>
              </a:lnSpc>
            </a:pPr>
            <a:r>
              <a:rPr lang="en-US" sz="2500" dirty="0" smtClean="0">
                <a:latin typeface="Times New Roman" panose="02020603050405020304" pitchFamily="18" charset="0"/>
                <a:cs typeface="Times New Roman" panose="02020603050405020304" pitchFamily="18" charset="0"/>
              </a:rPr>
              <a:t>Storage saving – To save hard drive / Memory space.</a:t>
            </a:r>
          </a:p>
          <a:p>
            <a:pPr algn="just">
              <a:lnSpc>
                <a:spcPct val="150000"/>
              </a:lnSpc>
            </a:pPr>
            <a:r>
              <a:rPr lang="en-US" sz="2500" dirty="0" smtClean="0">
                <a:latin typeface="Times New Roman" panose="02020603050405020304" pitchFamily="18" charset="0"/>
                <a:cs typeface="Times New Roman" panose="02020603050405020304" pitchFamily="18" charset="0"/>
              </a:rPr>
              <a:t>Backup – Automatically backup to prevent data loss.</a:t>
            </a:r>
          </a:p>
          <a:p>
            <a:pPr algn="just">
              <a:lnSpc>
                <a:spcPct val="150000"/>
              </a:lnSpc>
            </a:pPr>
            <a:r>
              <a:rPr lang="en-US" sz="2500" dirty="0" smtClean="0">
                <a:latin typeface="Times New Roman" panose="02020603050405020304" pitchFamily="18" charset="0"/>
                <a:cs typeface="Times New Roman" panose="02020603050405020304" pitchFamily="18" charset="0"/>
              </a:rPr>
              <a:t>Recovery – To be recovery using another device, if the devices breaks.</a:t>
            </a:r>
          </a:p>
          <a:p>
            <a:pPr algn="just">
              <a:lnSpc>
                <a:spcPct val="150000"/>
              </a:lnSpc>
            </a:pPr>
            <a:r>
              <a:rPr lang="en-US" sz="2500" dirty="0" smtClean="0">
                <a:latin typeface="Times New Roman" panose="02020603050405020304" pitchFamily="18" charset="0"/>
                <a:cs typeface="Times New Roman" panose="02020603050405020304" pitchFamily="18" charset="0"/>
              </a:rPr>
              <a:t>Security – Encrypted and securely stored on a cloud server.</a:t>
            </a:r>
          </a:p>
          <a:p>
            <a:pPr algn="just">
              <a:lnSpc>
                <a:spcPct val="150000"/>
              </a:lnSpc>
            </a:pPr>
            <a:r>
              <a:rPr lang="en-US" sz="2500" dirty="0" smtClean="0">
                <a:latin typeface="Times New Roman" panose="02020603050405020304" pitchFamily="18" charset="0"/>
                <a:cs typeface="Times New Roman" panose="02020603050405020304" pitchFamily="18" charset="0"/>
              </a:rPr>
              <a:t>Collaboration – Users can see and work on the same file at the same time for better teamwork </a:t>
            </a:r>
            <a:endParaRPr lang="en-US" sz="25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EE57C862-BEDE-48BC-A398-036109EBEB21}" type="datetime1">
              <a:rPr lang="en-US" smtClean="0"/>
              <a:t>11/7/2025</a:t>
            </a:fld>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4</a:t>
            </a:fld>
            <a:endParaRPr lang="en-US"/>
          </a:p>
        </p:txBody>
      </p:sp>
    </p:spTree>
    <p:extLst>
      <p:ext uri="{BB962C8B-B14F-4D97-AF65-F5344CB8AC3E}">
        <p14:creationId xmlns:p14="http://schemas.microsoft.com/office/powerpoint/2010/main" val="14508485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18"/>
          <p:cNvSpPr txBox="1"/>
          <p:nvPr/>
        </p:nvSpPr>
        <p:spPr>
          <a:xfrm>
            <a:off x="587252" y="786725"/>
            <a:ext cx="4747024" cy="5727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342900" marR="0" indent="-342900" algn="ctr">
              <a:lnSpc>
                <a:spcPct val="107000"/>
              </a:lnSpc>
              <a:spcBef>
                <a:spcPts val="0"/>
              </a:spcBef>
              <a:spcAft>
                <a:spcPts val="800"/>
              </a:spcAft>
              <a:buFont typeface="Wingdings" panose="05000000000000000000" pitchFamily="2" charset="2"/>
              <a:buChar char="Ø"/>
            </a:pPr>
            <a:r>
              <a:rPr lang="en-US" sz="2500" dirty="0" smtClean="0">
                <a:effectLst/>
                <a:latin typeface="Times New Roman" panose="02020603050405020304" pitchFamily="18" charset="0"/>
                <a:ea typeface="Calibri" panose="020F0502020204030204" pitchFamily="34" charset="0"/>
                <a:cs typeface="Myanmar Text" panose="020B0502040204020203" pitchFamily="34" charset="0"/>
              </a:rPr>
              <a:t>System Architecture Diagram</a:t>
            </a:r>
            <a:endParaRPr lang="en-US" sz="2500" dirty="0">
              <a:effectLst/>
              <a:latin typeface="Times New Roman" panose="02020603050405020304" pitchFamily="18" charset="0"/>
              <a:ea typeface="Calibri" panose="020F0502020204030204" pitchFamily="34" charset="0"/>
              <a:cs typeface="Myanmar Text" panose="020B0502040204020203"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2812" y="1359470"/>
            <a:ext cx="8106315" cy="5173305"/>
          </a:xfrm>
          <a:prstGeom prst="rect">
            <a:avLst/>
          </a:prstGeom>
        </p:spPr>
      </p:pic>
      <p:sp>
        <p:nvSpPr>
          <p:cNvPr id="3" name="Date Placeholder 2"/>
          <p:cNvSpPr>
            <a:spLocks noGrp="1"/>
          </p:cNvSpPr>
          <p:nvPr>
            <p:ph type="dt" sz="half" idx="10"/>
          </p:nvPr>
        </p:nvSpPr>
        <p:spPr/>
        <p:txBody>
          <a:bodyPr/>
          <a:lstStyle/>
          <a:p>
            <a:fld id="{E9806736-492F-4B06-9794-E817FDA8B7A2}" type="datetime1">
              <a:rPr lang="en-US" smtClean="0"/>
              <a:t>11/7/2025</a:t>
            </a:fld>
            <a:endParaRPr lang="en-US"/>
          </a:p>
        </p:txBody>
      </p:sp>
      <p:sp>
        <p:nvSpPr>
          <p:cNvPr id="5" name="Slide Number Placeholder 4"/>
          <p:cNvSpPr>
            <a:spLocks noGrp="1"/>
          </p:cNvSpPr>
          <p:nvPr>
            <p:ph type="sldNum" sz="quarter" idx="12"/>
          </p:nvPr>
        </p:nvSpPr>
        <p:spPr/>
        <p:txBody>
          <a:bodyPr/>
          <a:lstStyle/>
          <a:p>
            <a:fld id="{AF6764F5-3FDB-4372-885F-E456D97BAF7C}" type="slidenum">
              <a:rPr lang="en-US" smtClean="0"/>
              <a:t>5</a:t>
            </a:fld>
            <a:endParaRPr lang="en-US"/>
          </a:p>
        </p:txBody>
      </p:sp>
    </p:spTree>
    <p:extLst>
      <p:ext uri="{BB962C8B-B14F-4D97-AF65-F5344CB8AC3E}">
        <p14:creationId xmlns:p14="http://schemas.microsoft.com/office/powerpoint/2010/main" val="16364043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0088" y="1404592"/>
            <a:ext cx="4458878" cy="4087207"/>
          </a:xfrm>
          <a:prstGeom prst="rect">
            <a:avLst/>
          </a:prstGeom>
        </p:spPr>
      </p:pic>
      <p:sp>
        <p:nvSpPr>
          <p:cNvPr id="3" name="TextBox 2"/>
          <p:cNvSpPr txBox="1"/>
          <p:nvPr/>
        </p:nvSpPr>
        <p:spPr>
          <a:xfrm>
            <a:off x="791852" y="871383"/>
            <a:ext cx="3431355" cy="477054"/>
          </a:xfrm>
          <a:prstGeom prst="rect">
            <a:avLst/>
          </a:prstGeom>
          <a:noFill/>
        </p:spPr>
        <p:txBody>
          <a:bodyPr wrap="square" rtlCol="0">
            <a:spAutoFit/>
          </a:bodyPr>
          <a:lstStyle/>
          <a:p>
            <a:pPr marL="342900" indent="-342900">
              <a:buFont typeface="Wingdings" panose="05000000000000000000" pitchFamily="2" charset="2"/>
              <a:buChar char="Ø"/>
            </a:pPr>
            <a:r>
              <a:rPr lang="en-US" sz="2500" dirty="0" smtClean="0">
                <a:latin typeface="Times New Roman" panose="02020603050405020304" pitchFamily="18" charset="0"/>
                <a:cs typeface="Times New Roman" panose="02020603050405020304" pitchFamily="18" charset="0"/>
              </a:rPr>
              <a:t>Data Flow Diagram</a:t>
            </a:r>
            <a:endParaRPr lang="en-US" sz="25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802B16D-D7C6-4FCE-B9B9-E86C7386CCB5}" type="datetime1">
              <a:rPr lang="en-US" smtClean="0"/>
              <a:t>11/7/2025</a:t>
            </a:fld>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6</a:t>
            </a:fld>
            <a:endParaRPr lang="en-US"/>
          </a:p>
        </p:txBody>
      </p:sp>
    </p:spTree>
    <p:extLst>
      <p:ext uri="{BB962C8B-B14F-4D97-AF65-F5344CB8AC3E}">
        <p14:creationId xmlns:p14="http://schemas.microsoft.com/office/powerpoint/2010/main" val="23002272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3571" y="801278"/>
            <a:ext cx="4223208"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User </a:t>
            </a:r>
            <a:r>
              <a:rPr lang="en-US" sz="2000" dirty="0" smtClean="0">
                <a:latin typeface="Times New Roman" panose="02020603050405020304" pitchFamily="18" charset="0"/>
                <a:cs typeface="Times New Roman" panose="02020603050405020304" pitchFamily="18" charset="0"/>
              </a:rPr>
              <a:t>Interface</a:t>
            </a:r>
            <a:r>
              <a:rPr lang="en-US" sz="2000" dirty="0" smtClean="0"/>
              <a:t> </a:t>
            </a:r>
            <a:r>
              <a:rPr lang="en-US" sz="2000" dirty="0" smtClean="0">
                <a:latin typeface="Times New Roman" panose="02020603050405020304" pitchFamily="18" charset="0"/>
                <a:cs typeface="Times New Roman" panose="02020603050405020304" pitchFamily="18" charset="0"/>
              </a:rPr>
              <a:t>&amp; Use </a:t>
            </a:r>
            <a:r>
              <a:rPr lang="en-US" sz="2000" dirty="0">
                <a:latin typeface="Times New Roman" panose="02020603050405020304" pitchFamily="18" charset="0"/>
                <a:cs typeface="Times New Roman" panose="02020603050405020304" pitchFamily="18" charset="0"/>
              </a:rPr>
              <a:t>case Diagram </a:t>
            </a:r>
            <a:endParaRPr lang="en-US" sz="20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919" y="1357460"/>
            <a:ext cx="9025542" cy="5118755"/>
          </a:xfrm>
          <a:prstGeom prst="rect">
            <a:avLst/>
          </a:prstGeom>
        </p:spPr>
      </p:pic>
      <p:sp>
        <p:nvSpPr>
          <p:cNvPr id="2" name="Date Placeholder 1"/>
          <p:cNvSpPr>
            <a:spLocks noGrp="1"/>
          </p:cNvSpPr>
          <p:nvPr>
            <p:ph type="dt" sz="half" idx="10"/>
          </p:nvPr>
        </p:nvSpPr>
        <p:spPr/>
        <p:txBody>
          <a:bodyPr/>
          <a:lstStyle/>
          <a:p>
            <a:fld id="{FA8E4AEB-6C2B-4E82-9DCC-4D4C52D672C3}" type="datetime1">
              <a:rPr lang="en-US" smtClean="0"/>
              <a:t>11/7/2025</a:t>
            </a:fld>
            <a:endParaRPr lang="en-US"/>
          </a:p>
        </p:txBody>
      </p:sp>
      <p:sp>
        <p:nvSpPr>
          <p:cNvPr id="5" name="Slide Number Placeholder 4"/>
          <p:cNvSpPr>
            <a:spLocks noGrp="1"/>
          </p:cNvSpPr>
          <p:nvPr>
            <p:ph type="sldNum" sz="quarter" idx="12"/>
          </p:nvPr>
        </p:nvSpPr>
        <p:spPr/>
        <p:txBody>
          <a:bodyPr/>
          <a:lstStyle/>
          <a:p>
            <a:fld id="{AF6764F5-3FDB-4372-885F-E456D97BAF7C}" type="slidenum">
              <a:rPr lang="en-US" smtClean="0"/>
              <a:t>7</a:t>
            </a:fld>
            <a:endParaRPr lang="en-US"/>
          </a:p>
        </p:txBody>
      </p:sp>
    </p:spTree>
    <p:extLst>
      <p:ext uri="{BB962C8B-B14F-4D97-AF65-F5344CB8AC3E}">
        <p14:creationId xmlns:p14="http://schemas.microsoft.com/office/powerpoint/2010/main" val="10302205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6190" y="1069413"/>
            <a:ext cx="7211505" cy="5387419"/>
          </a:xfrm>
          <a:prstGeom prst="rect">
            <a:avLst/>
          </a:prstGeom>
        </p:spPr>
      </p:pic>
      <p:sp>
        <p:nvSpPr>
          <p:cNvPr id="2" name="Date Placeholder 1"/>
          <p:cNvSpPr>
            <a:spLocks noGrp="1"/>
          </p:cNvSpPr>
          <p:nvPr>
            <p:ph type="dt" sz="half" idx="10"/>
          </p:nvPr>
        </p:nvSpPr>
        <p:spPr/>
        <p:txBody>
          <a:bodyPr/>
          <a:lstStyle/>
          <a:p>
            <a:fld id="{C24F7CAB-0280-4A99-85BD-31B079369397}" type="datetime1">
              <a:rPr lang="en-US" smtClean="0"/>
              <a:t>11/7/2025</a:t>
            </a:fld>
            <a:endParaRPr lang="en-US"/>
          </a:p>
        </p:txBody>
      </p:sp>
      <p:sp>
        <p:nvSpPr>
          <p:cNvPr id="5" name="Slide Number Placeholder 4"/>
          <p:cNvSpPr>
            <a:spLocks noGrp="1"/>
          </p:cNvSpPr>
          <p:nvPr>
            <p:ph type="sldNum" sz="quarter" idx="12"/>
          </p:nvPr>
        </p:nvSpPr>
        <p:spPr/>
        <p:txBody>
          <a:bodyPr/>
          <a:lstStyle/>
          <a:p>
            <a:fld id="{AF6764F5-3FDB-4372-885F-E456D97BAF7C}" type="slidenum">
              <a:rPr lang="en-US" smtClean="0"/>
              <a:t>8</a:t>
            </a:fld>
            <a:endParaRPr lang="en-US"/>
          </a:p>
        </p:txBody>
      </p:sp>
    </p:spTree>
    <p:extLst>
      <p:ext uri="{BB962C8B-B14F-4D97-AF65-F5344CB8AC3E}">
        <p14:creationId xmlns:p14="http://schemas.microsoft.com/office/powerpoint/2010/main" val="21160893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75035" y="763571"/>
            <a:ext cx="3487917" cy="861774"/>
          </a:xfrm>
          <a:prstGeom prst="rect">
            <a:avLst/>
          </a:prstGeom>
          <a:noFill/>
        </p:spPr>
        <p:txBody>
          <a:bodyPr wrap="square" rtlCol="0">
            <a:spAutoFit/>
          </a:bodyPr>
          <a:lstStyle/>
          <a:p>
            <a:pPr marL="342900" indent="-342900">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Design Justification</a:t>
            </a:r>
          </a:p>
          <a:p>
            <a:pPr marL="342900" indent="-342900">
              <a:buFont typeface="Wingdings" panose="05000000000000000000" pitchFamily="2" charset="2"/>
              <a:buChar char="Ø"/>
            </a:pPr>
            <a:endParaRPr lang="en-US" sz="2500" dirty="0"/>
          </a:p>
        </p:txBody>
      </p:sp>
      <p:sp>
        <p:nvSpPr>
          <p:cNvPr id="9" name="TextBox 8"/>
          <p:cNvSpPr txBox="1"/>
          <p:nvPr/>
        </p:nvSpPr>
        <p:spPr>
          <a:xfrm>
            <a:off x="1989056" y="1342541"/>
            <a:ext cx="5175315" cy="6247864"/>
          </a:xfrm>
          <a:prstGeom prst="rect">
            <a:avLst/>
          </a:prstGeom>
          <a:noFill/>
        </p:spPr>
        <p:txBody>
          <a:bodyPr wrap="square" rtlCol="0">
            <a:spAutoFit/>
          </a:bodyPr>
          <a:lstStyle/>
          <a:p>
            <a:r>
              <a:rPr lang="en-US" sz="2500" b="1" dirty="0" smtClean="0">
                <a:latin typeface="Times New Roman" panose="02020603050405020304" pitchFamily="18" charset="0"/>
                <a:cs typeface="Times New Roman" panose="02020603050405020304" pitchFamily="18" charset="0"/>
              </a:rPr>
              <a:t>1</a:t>
            </a:r>
            <a:r>
              <a:rPr lang="en-US" sz="2500" b="1" dirty="0">
                <a:latin typeface="Times New Roman" panose="02020603050405020304" pitchFamily="18" charset="0"/>
                <a:cs typeface="Times New Roman" panose="02020603050405020304" pitchFamily="18" charset="0"/>
              </a:rPr>
              <a:t>. Why </a:t>
            </a:r>
            <a:r>
              <a:rPr lang="en-US" sz="2500" b="1" dirty="0" err="1">
                <a:latin typeface="Times New Roman" panose="02020603050405020304" pitchFamily="18" charset="0"/>
                <a:cs typeface="Times New Roman" panose="02020603050405020304" pitchFamily="18" charset="0"/>
              </a:rPr>
              <a:t>imgBB</a:t>
            </a:r>
            <a:r>
              <a:rPr lang="en-US" sz="2500" b="1" dirty="0">
                <a:latin typeface="Times New Roman" panose="02020603050405020304" pitchFamily="18" charset="0"/>
                <a:cs typeface="Times New Roman" panose="02020603050405020304" pitchFamily="18" charset="0"/>
              </a:rPr>
              <a:t> Cloud for Image Storage?</a:t>
            </a:r>
          </a:p>
          <a:p>
            <a:pPr lvl="0"/>
            <a:r>
              <a:rPr lang="en-US" sz="2500" i="1" dirty="0">
                <a:latin typeface="Times New Roman" panose="02020603050405020304" pitchFamily="18" charset="0"/>
                <a:cs typeface="Times New Roman" panose="02020603050405020304" pitchFamily="18" charset="0"/>
              </a:rPr>
              <a:t>No Server Hassle</a:t>
            </a:r>
            <a:endParaRPr lang="en-US" sz="2500" dirty="0">
              <a:latin typeface="Times New Roman" panose="02020603050405020304" pitchFamily="18" charset="0"/>
              <a:cs typeface="Times New Roman" panose="02020603050405020304" pitchFamily="18" charset="0"/>
            </a:endParaRPr>
          </a:p>
          <a:p>
            <a:pPr lvl="0"/>
            <a:r>
              <a:rPr lang="en-US" sz="2500" i="1" dirty="0">
                <a:latin typeface="Times New Roman" panose="02020603050405020304" pitchFamily="18" charset="0"/>
                <a:cs typeface="Times New Roman" panose="02020603050405020304" pitchFamily="18" charset="0"/>
              </a:rPr>
              <a:t>Focus on Features</a:t>
            </a:r>
            <a:endParaRPr lang="en-US" sz="2500" dirty="0">
              <a:latin typeface="Times New Roman" panose="02020603050405020304" pitchFamily="18" charset="0"/>
              <a:cs typeface="Times New Roman" panose="02020603050405020304" pitchFamily="18" charset="0"/>
            </a:endParaRPr>
          </a:p>
          <a:p>
            <a:pPr lvl="0"/>
            <a:r>
              <a:rPr lang="en-US" sz="2500" i="1" dirty="0">
                <a:latin typeface="Times New Roman" panose="02020603050405020304" pitchFamily="18" charset="0"/>
                <a:cs typeface="Times New Roman" panose="02020603050405020304" pitchFamily="18" charset="0"/>
              </a:rPr>
              <a:t>Saves Time and Money</a:t>
            </a:r>
            <a:endParaRPr lang="en-US" sz="2500" dirty="0">
              <a:latin typeface="Times New Roman" panose="02020603050405020304" pitchFamily="18" charset="0"/>
              <a:cs typeface="Times New Roman" panose="02020603050405020304" pitchFamily="18" charset="0"/>
            </a:endParaRPr>
          </a:p>
          <a:p>
            <a:r>
              <a:rPr lang="en-US" sz="2500" b="1" dirty="0">
                <a:latin typeface="Times New Roman" panose="02020603050405020304" pitchFamily="18" charset="0"/>
                <a:cs typeface="Times New Roman" panose="02020603050405020304" pitchFamily="18" charset="0"/>
              </a:rPr>
              <a:t>2. Why Python Flask as the Main Framework?</a:t>
            </a:r>
          </a:p>
          <a:p>
            <a:pPr lvl="0"/>
            <a:r>
              <a:rPr lang="en-US" sz="2500" i="1" dirty="0">
                <a:latin typeface="Times New Roman" panose="02020603050405020304" pitchFamily="18" charset="0"/>
                <a:cs typeface="Times New Roman" panose="02020603050405020304" pitchFamily="18" charset="0"/>
              </a:rPr>
              <a:t>Simple and Lightweight</a:t>
            </a:r>
            <a:endParaRPr lang="en-US" sz="2500" dirty="0">
              <a:latin typeface="Times New Roman" panose="02020603050405020304" pitchFamily="18" charset="0"/>
              <a:cs typeface="Times New Roman" panose="02020603050405020304" pitchFamily="18" charset="0"/>
            </a:endParaRPr>
          </a:p>
          <a:p>
            <a:pPr lvl="0"/>
            <a:r>
              <a:rPr lang="en-US" sz="2500" i="1" dirty="0">
                <a:latin typeface="Times New Roman" panose="02020603050405020304" pitchFamily="18" charset="0"/>
                <a:cs typeface="Times New Roman" panose="02020603050405020304" pitchFamily="18" charset="0"/>
              </a:rPr>
              <a:t>Quick Development</a:t>
            </a:r>
            <a:endParaRPr lang="en-US" sz="2500" dirty="0">
              <a:latin typeface="Times New Roman" panose="02020603050405020304" pitchFamily="18" charset="0"/>
              <a:cs typeface="Times New Roman" panose="02020603050405020304" pitchFamily="18" charset="0"/>
            </a:endParaRPr>
          </a:p>
          <a:p>
            <a:r>
              <a:rPr lang="en-US" sz="2500" b="1" dirty="0">
                <a:latin typeface="Times New Roman" panose="02020603050405020304" pitchFamily="18" charset="0"/>
                <a:cs typeface="Times New Roman" panose="02020603050405020304" pitchFamily="18" charset="0"/>
              </a:rPr>
              <a:t>3. Why These Specific Python Libraries?</a:t>
            </a:r>
          </a:p>
          <a:p>
            <a:pPr lvl="0"/>
            <a:r>
              <a:rPr lang="en-US" sz="2500" i="1" dirty="0">
                <a:latin typeface="Times New Roman" panose="02020603050405020304" pitchFamily="18" charset="0"/>
                <a:cs typeface="Times New Roman" panose="02020603050405020304" pitchFamily="18" charset="0"/>
              </a:rPr>
              <a:t>Requests</a:t>
            </a:r>
            <a:endParaRPr lang="en-US" sz="2500" dirty="0">
              <a:latin typeface="Times New Roman" panose="02020603050405020304" pitchFamily="18" charset="0"/>
              <a:cs typeface="Times New Roman" panose="02020603050405020304" pitchFamily="18" charset="0"/>
            </a:endParaRPr>
          </a:p>
          <a:p>
            <a:pPr lvl="0"/>
            <a:r>
              <a:rPr lang="en-US" sz="2500" i="1" dirty="0">
                <a:latin typeface="Times New Roman" panose="02020603050405020304" pitchFamily="18" charset="0"/>
                <a:cs typeface="Times New Roman" panose="02020603050405020304" pitchFamily="18" charset="0"/>
              </a:rPr>
              <a:t>Pillow (PIL)</a:t>
            </a:r>
            <a:endParaRPr lang="en-US" sz="2500" dirty="0">
              <a:latin typeface="Times New Roman" panose="02020603050405020304" pitchFamily="18" charset="0"/>
              <a:cs typeface="Times New Roman" panose="02020603050405020304" pitchFamily="18" charset="0"/>
            </a:endParaRPr>
          </a:p>
          <a:p>
            <a:pPr lvl="0"/>
            <a:r>
              <a:rPr lang="en-US" sz="2500" i="1" dirty="0">
                <a:latin typeface="Times New Roman" panose="02020603050405020304" pitchFamily="18" charset="0"/>
                <a:cs typeface="Times New Roman" panose="02020603050405020304" pitchFamily="18" charset="0"/>
              </a:rPr>
              <a:t>python-</a:t>
            </a:r>
            <a:r>
              <a:rPr lang="en-US" sz="2500" i="1" dirty="0" err="1">
                <a:latin typeface="Times New Roman" panose="02020603050405020304" pitchFamily="18" charset="0"/>
                <a:cs typeface="Times New Roman" panose="02020603050405020304" pitchFamily="18" charset="0"/>
              </a:rPr>
              <a:t>dotenv</a:t>
            </a:r>
            <a:endParaRPr lang="en-US" sz="2500" dirty="0">
              <a:latin typeface="Times New Roman" panose="02020603050405020304" pitchFamily="18" charset="0"/>
              <a:cs typeface="Times New Roman" panose="02020603050405020304" pitchFamily="18" charset="0"/>
            </a:endParaRPr>
          </a:p>
          <a:p>
            <a:r>
              <a:rPr lang="en-US" sz="2500" dirty="0">
                <a:latin typeface="Times New Roman" panose="02020603050405020304" pitchFamily="18" charset="0"/>
                <a:cs typeface="Times New Roman" panose="02020603050405020304" pitchFamily="18" charset="0"/>
              </a:rPr>
              <a:t> </a:t>
            </a:r>
          </a:p>
          <a:p>
            <a:endParaRPr lang="en-US" sz="25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82BE6EE8-6D41-4C22-82F4-6480FA966C8C}" type="datetime1">
              <a:rPr lang="en-US" smtClean="0"/>
              <a:t>11/7/2025</a:t>
            </a:fld>
            <a:endParaRPr lang="en-US"/>
          </a:p>
        </p:txBody>
      </p:sp>
      <p:sp>
        <p:nvSpPr>
          <p:cNvPr id="4" name="Slide Number Placeholder 3"/>
          <p:cNvSpPr>
            <a:spLocks noGrp="1"/>
          </p:cNvSpPr>
          <p:nvPr>
            <p:ph type="sldNum" sz="quarter" idx="12"/>
          </p:nvPr>
        </p:nvSpPr>
        <p:spPr/>
        <p:txBody>
          <a:bodyPr/>
          <a:lstStyle/>
          <a:p>
            <a:fld id="{AF6764F5-3FDB-4372-885F-E456D97BAF7C}" type="slidenum">
              <a:rPr lang="en-US" smtClean="0"/>
              <a:t>9</a:t>
            </a:fld>
            <a:endParaRPr lang="en-US"/>
          </a:p>
        </p:txBody>
      </p:sp>
    </p:spTree>
    <p:extLst>
      <p:ext uri="{BB962C8B-B14F-4D97-AF65-F5344CB8AC3E}">
        <p14:creationId xmlns:p14="http://schemas.microsoft.com/office/powerpoint/2010/main" val="18487109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73897" y="1480009"/>
            <a:ext cx="5241303" cy="2083324"/>
          </a:xfrm>
          <a:prstGeom prst="rect">
            <a:avLst/>
          </a:prstGeom>
          <a:noFill/>
        </p:spPr>
        <p:txBody>
          <a:bodyPr wrap="square" rtlCol="0">
            <a:spAutoFit/>
          </a:bodyPr>
          <a:lstStyle/>
          <a:p>
            <a:endParaRPr lang="en-US" dirty="0"/>
          </a:p>
        </p:txBody>
      </p:sp>
      <p:sp>
        <p:nvSpPr>
          <p:cNvPr id="5" name="TextBox 4"/>
          <p:cNvSpPr txBox="1"/>
          <p:nvPr/>
        </p:nvSpPr>
        <p:spPr>
          <a:xfrm>
            <a:off x="876692" y="721929"/>
            <a:ext cx="6947555" cy="861774"/>
          </a:xfrm>
          <a:prstGeom prst="rect">
            <a:avLst/>
          </a:prstGeom>
          <a:noFill/>
        </p:spPr>
        <p:txBody>
          <a:bodyPr wrap="square" rtlCol="0">
            <a:spAutoFit/>
          </a:bodyPr>
          <a:lstStyle/>
          <a:p>
            <a:pPr marL="342900" indent="-342900">
              <a:buFont typeface="Wingdings" panose="05000000000000000000" pitchFamily="2" charset="2"/>
              <a:buChar char="Ø"/>
            </a:pPr>
            <a:r>
              <a:rPr lang="en-US" sz="2500" dirty="0">
                <a:latin typeface="Times New Roman" panose="02020603050405020304" pitchFamily="18" charset="0"/>
                <a:cs typeface="Times New Roman" panose="02020603050405020304" pitchFamily="18" charset="0"/>
              </a:rPr>
              <a:t>Step-by-step Product Selection Documentation</a:t>
            </a:r>
          </a:p>
          <a:p>
            <a:pPr marL="342900" indent="-342900">
              <a:buFont typeface="Wingdings" panose="05000000000000000000" pitchFamily="2" charset="2"/>
              <a:buChar char="Ø"/>
            </a:pPr>
            <a:endParaRPr lang="en-US" sz="2500" dirty="0"/>
          </a:p>
        </p:txBody>
      </p:sp>
      <p:sp>
        <p:nvSpPr>
          <p:cNvPr id="6" name="TextBox 5"/>
          <p:cNvSpPr txBox="1"/>
          <p:nvPr/>
        </p:nvSpPr>
        <p:spPr>
          <a:xfrm>
            <a:off x="1983558" y="1480009"/>
            <a:ext cx="8499049" cy="4131900"/>
          </a:xfrm>
          <a:prstGeom prst="rect">
            <a:avLst/>
          </a:prstGeom>
          <a:noFill/>
        </p:spPr>
        <p:txBody>
          <a:bodyPr wrap="square" rtlCol="0">
            <a:spAutoFit/>
          </a:bodyPr>
          <a:lstStyle/>
          <a:p>
            <a:pPr>
              <a:lnSpc>
                <a:spcPct val="150000"/>
              </a:lnSpc>
            </a:pPr>
            <a:r>
              <a:rPr lang="en-US" sz="2500" dirty="0" smtClean="0">
                <a:latin typeface="Times New Roman" panose="02020603050405020304" pitchFamily="18" charset="0"/>
                <a:cs typeface="Times New Roman" panose="02020603050405020304" pitchFamily="18" charset="0"/>
              </a:rPr>
              <a:t>1. Main Factors for Choosing Cloud Service </a:t>
            </a:r>
          </a:p>
          <a:p>
            <a:pPr marL="742950" lvl="1" indent="-28575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Cost</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Low </a:t>
            </a:r>
            <a:r>
              <a:rPr lang="en-US" sz="2500" dirty="0">
                <a:latin typeface="Times New Roman" panose="02020603050405020304" pitchFamily="18" charset="0"/>
                <a:cs typeface="Times New Roman" panose="02020603050405020304" pitchFamily="18" charset="0"/>
              </a:rPr>
              <a:t>cost is important for students/projects. </a:t>
            </a:r>
            <a:endParaRPr lang="en-US" sz="2500" dirty="0" smtClean="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Performance</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Fast </a:t>
            </a:r>
            <a:r>
              <a:rPr lang="en-US" sz="2500" dirty="0">
                <a:latin typeface="Times New Roman" panose="02020603050405020304" pitchFamily="18" charset="0"/>
                <a:cs typeface="Times New Roman" panose="02020603050405020304" pitchFamily="18" charset="0"/>
              </a:rPr>
              <a:t>image loading even with high traffic. </a:t>
            </a:r>
            <a:endParaRPr lang="en-US" sz="2500" dirty="0" smtClean="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Security: Encryption</a:t>
            </a:r>
            <a:r>
              <a:rPr lang="en-US" sz="2500" dirty="0">
                <a:latin typeface="Times New Roman" panose="02020603050405020304" pitchFamily="18" charset="0"/>
                <a:cs typeface="Times New Roman" panose="02020603050405020304" pitchFamily="18" charset="0"/>
              </a:rPr>
              <a:t>, access control, compliance. </a:t>
            </a:r>
            <a:endParaRPr lang="en-US" sz="2500" dirty="0" smtClean="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Scalability: Can </a:t>
            </a:r>
            <a:r>
              <a:rPr lang="en-US" sz="2500" dirty="0">
                <a:latin typeface="Times New Roman" panose="02020603050405020304" pitchFamily="18" charset="0"/>
                <a:cs typeface="Times New Roman" panose="02020603050405020304" pitchFamily="18" charset="0"/>
              </a:rPr>
              <a:t>handle growing user traffic smoothly. </a:t>
            </a:r>
            <a:endParaRPr lang="en-US" sz="2500" dirty="0" smtClean="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Regional </a:t>
            </a:r>
            <a:r>
              <a:rPr lang="en-US" sz="2500" dirty="0">
                <a:latin typeface="Times New Roman" panose="02020603050405020304" pitchFamily="18" charset="0"/>
                <a:cs typeface="Times New Roman" panose="02020603050405020304" pitchFamily="18" charset="0"/>
              </a:rPr>
              <a:t>availability: </a:t>
            </a:r>
            <a:r>
              <a:rPr lang="en-US" sz="2500" dirty="0" smtClean="0">
                <a:latin typeface="Times New Roman" panose="02020603050405020304" pitchFamily="18" charset="0"/>
                <a:cs typeface="Times New Roman" panose="02020603050405020304" pitchFamily="18" charset="0"/>
              </a:rPr>
              <a:t>Data </a:t>
            </a:r>
            <a:r>
              <a:rPr lang="en-US" sz="2500" dirty="0">
                <a:latin typeface="Times New Roman" panose="02020603050405020304" pitchFamily="18" charset="0"/>
                <a:cs typeface="Times New Roman" panose="02020603050405020304" pitchFamily="18" charset="0"/>
              </a:rPr>
              <a:t>stored near users improves speed</a:t>
            </a:r>
            <a:r>
              <a:rPr lang="en-US" sz="2500" dirty="0" smtClean="0">
                <a:latin typeface="Times New Roman" panose="02020603050405020304" pitchFamily="18" charset="0"/>
                <a:cs typeface="Times New Roman" panose="02020603050405020304" pitchFamily="18" charset="0"/>
              </a:rPr>
              <a:t>.</a:t>
            </a:r>
            <a:endParaRPr lang="en-US" sz="25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B3876C1E-EEEA-441D-97B6-E8307AB12DF9}" type="datetime1">
              <a:rPr lang="en-US" smtClean="0"/>
              <a:t>11/7/2025</a:t>
            </a:fld>
            <a:endParaRPr lang="en-US"/>
          </a:p>
        </p:txBody>
      </p:sp>
      <p:sp>
        <p:nvSpPr>
          <p:cNvPr id="7" name="Slide Number Placeholder 6"/>
          <p:cNvSpPr>
            <a:spLocks noGrp="1"/>
          </p:cNvSpPr>
          <p:nvPr>
            <p:ph type="sldNum" sz="quarter" idx="12"/>
          </p:nvPr>
        </p:nvSpPr>
        <p:spPr/>
        <p:txBody>
          <a:bodyPr/>
          <a:lstStyle/>
          <a:p>
            <a:fld id="{AF6764F5-3FDB-4372-885F-E456D97BAF7C}" type="slidenum">
              <a:rPr lang="en-US" smtClean="0"/>
              <a:t>10</a:t>
            </a:fld>
            <a:endParaRPr lang="en-US"/>
          </a:p>
        </p:txBody>
      </p:sp>
    </p:spTree>
    <p:extLst>
      <p:ext uri="{BB962C8B-B14F-4D97-AF65-F5344CB8AC3E}">
        <p14:creationId xmlns:p14="http://schemas.microsoft.com/office/powerpoint/2010/main" val="26080869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7856" y="659875"/>
            <a:ext cx="11444144" cy="3554819"/>
          </a:xfrm>
          <a:prstGeom prst="rect">
            <a:avLst/>
          </a:prstGeom>
          <a:noFill/>
        </p:spPr>
        <p:txBody>
          <a:bodyPr wrap="square" rtlCol="0">
            <a:spAutoFit/>
          </a:bodyPr>
          <a:lstStyle/>
          <a:p>
            <a:pPr>
              <a:lnSpc>
                <a:spcPct val="150000"/>
              </a:lnSpc>
            </a:pPr>
            <a:r>
              <a:rPr lang="en-US" sz="2500" dirty="0" smtClean="0">
                <a:latin typeface="Times New Roman" panose="02020603050405020304" pitchFamily="18" charset="0"/>
                <a:cs typeface="Times New Roman" panose="02020603050405020304" pitchFamily="18" charset="0"/>
              </a:rPr>
              <a:t>2.Comparison </a:t>
            </a:r>
            <a:r>
              <a:rPr lang="en-US" sz="2500" dirty="0">
                <a:latin typeface="Times New Roman" panose="02020603050405020304" pitchFamily="18" charset="0"/>
                <a:cs typeface="Times New Roman" panose="02020603050405020304" pitchFamily="18" charset="0"/>
              </a:rPr>
              <a:t>of Cloud </a:t>
            </a:r>
            <a:r>
              <a:rPr lang="en-US" sz="2500" dirty="0" smtClean="0">
                <a:latin typeface="Times New Roman" panose="02020603050405020304" pitchFamily="18" charset="0"/>
                <a:cs typeface="Times New Roman" panose="02020603050405020304" pitchFamily="18" charset="0"/>
              </a:rPr>
              <a:t>Providers</a:t>
            </a:r>
          </a:p>
          <a:p>
            <a:pPr marL="800100" lvl="1" indent="-34290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AWS S3: Reliable</a:t>
            </a:r>
            <a:r>
              <a:rPr lang="en-US" sz="2500" dirty="0">
                <a:latin typeface="Times New Roman" panose="02020603050405020304" pitchFamily="18" charset="0"/>
                <a:cs typeface="Times New Roman" panose="02020603050405020304" pitchFamily="18" charset="0"/>
              </a:rPr>
              <a:t>, scalable, but requires credit card. </a:t>
            </a:r>
            <a:endParaRPr lang="en-US" sz="2500" dirty="0" smtClean="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Google </a:t>
            </a:r>
            <a:r>
              <a:rPr lang="en-US" sz="2500" dirty="0">
                <a:latin typeface="Times New Roman" panose="02020603050405020304" pitchFamily="18" charset="0"/>
                <a:cs typeface="Times New Roman" panose="02020603050405020304" pitchFamily="18" charset="0"/>
              </a:rPr>
              <a:t>Cloud </a:t>
            </a:r>
            <a:r>
              <a:rPr lang="en-US" sz="2500" dirty="0" smtClean="0">
                <a:latin typeface="Times New Roman" panose="02020603050405020304" pitchFamily="18" charset="0"/>
                <a:cs typeface="Times New Roman" panose="02020603050405020304" pitchFamily="18" charset="0"/>
              </a:rPr>
              <a:t>Storage: Good </a:t>
            </a:r>
            <a:r>
              <a:rPr lang="en-US" sz="2500" dirty="0">
                <a:latin typeface="Times New Roman" panose="02020603050405020304" pitchFamily="18" charset="0"/>
                <a:cs typeface="Times New Roman" panose="02020603050405020304" pitchFamily="18" charset="0"/>
              </a:rPr>
              <a:t>for AI/analytics, more </a:t>
            </a:r>
            <a:r>
              <a:rPr lang="en-US" sz="2500" dirty="0" smtClean="0">
                <a:latin typeface="Times New Roman" panose="02020603050405020304" pitchFamily="18" charset="0"/>
                <a:cs typeface="Times New Roman" panose="02020603050405020304" pitchFamily="18" charset="0"/>
              </a:rPr>
              <a:t>complex/expensive.</a:t>
            </a:r>
          </a:p>
          <a:p>
            <a:pPr marL="800100" lvl="1" indent="-34290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Azure Blob: Integrates </a:t>
            </a:r>
            <a:r>
              <a:rPr lang="en-US" sz="2500" dirty="0">
                <a:latin typeface="Times New Roman" panose="02020603050405020304" pitchFamily="18" charset="0"/>
                <a:cs typeface="Times New Roman" panose="02020603050405020304" pitchFamily="18" charset="0"/>
              </a:rPr>
              <a:t>with MS products, higher cost. </a:t>
            </a:r>
            <a:endParaRPr lang="en-US" sz="2500" dirty="0" smtClean="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500" dirty="0" err="1" smtClean="0">
                <a:latin typeface="Times New Roman" panose="02020603050405020304" pitchFamily="18" charset="0"/>
                <a:cs typeface="Times New Roman" panose="02020603050405020304" pitchFamily="18" charset="0"/>
              </a:rPr>
              <a:t>ImgBB</a:t>
            </a:r>
            <a:r>
              <a:rPr lang="en-US" sz="2500" dirty="0" smtClean="0">
                <a:latin typeface="Times New Roman" panose="02020603050405020304" pitchFamily="18" charset="0"/>
                <a:cs typeface="Times New Roman" panose="02020603050405020304" pitchFamily="18" charset="0"/>
              </a:rPr>
              <a:t>: Simple</a:t>
            </a:r>
            <a:r>
              <a:rPr lang="en-US" sz="2500" dirty="0">
                <a:latin typeface="Times New Roman" panose="02020603050405020304" pitchFamily="18" charset="0"/>
                <a:cs typeface="Times New Roman" panose="02020603050405020304" pitchFamily="18" charset="0"/>
              </a:rPr>
              <a:t>, built-in CDN, free tier </a:t>
            </a:r>
            <a:r>
              <a:rPr lang="en-US" sz="2500" dirty="0" smtClean="0">
                <a:latin typeface="Times New Roman" panose="02020603050405020304" pitchFamily="18" charset="0"/>
                <a:cs typeface="Times New Roman" panose="02020603050405020304" pitchFamily="18" charset="0"/>
              </a:rPr>
              <a:t>available-practical </a:t>
            </a:r>
            <a:r>
              <a:rPr lang="en-US" sz="2500" dirty="0">
                <a:latin typeface="Times New Roman" panose="02020603050405020304" pitchFamily="18" charset="0"/>
                <a:cs typeface="Times New Roman" panose="02020603050405020304" pitchFamily="18" charset="0"/>
              </a:rPr>
              <a:t>for small projects.</a:t>
            </a:r>
          </a:p>
          <a:p>
            <a:pPr>
              <a:lnSpc>
                <a:spcPct val="150000"/>
              </a:lnSpc>
            </a:pPr>
            <a:endParaRPr lang="en-US" sz="25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747856" y="4015819"/>
            <a:ext cx="10727707" cy="1631216"/>
          </a:xfrm>
          <a:prstGeom prst="rect">
            <a:avLst/>
          </a:prstGeom>
          <a:noFill/>
        </p:spPr>
        <p:txBody>
          <a:bodyPr wrap="square" rtlCol="0">
            <a:spAutoFit/>
          </a:bodyPr>
          <a:lstStyle/>
          <a:p>
            <a:pPr>
              <a:lnSpc>
                <a:spcPct val="200000"/>
              </a:lnSpc>
            </a:pPr>
            <a:r>
              <a:rPr lang="en-US" sz="2500" dirty="0" smtClean="0">
                <a:latin typeface="Times New Roman" panose="02020603050405020304" pitchFamily="18" charset="0"/>
                <a:cs typeface="Times New Roman" panose="02020603050405020304" pitchFamily="18" charset="0"/>
              </a:rPr>
              <a:t>3. Decision</a:t>
            </a:r>
            <a:endParaRPr lang="en-US" sz="2500" dirty="0">
              <a:latin typeface="Times New Roman" panose="02020603050405020304" pitchFamily="18" charset="0"/>
              <a:cs typeface="Times New Roman" panose="02020603050405020304" pitchFamily="18" charset="0"/>
            </a:endParaRPr>
          </a:p>
          <a:p>
            <a:pPr>
              <a:lnSpc>
                <a:spcPct val="200000"/>
              </a:lnSpc>
            </a:pPr>
            <a:r>
              <a:rPr lang="en-US" sz="2500" dirty="0" smtClean="0">
                <a:latin typeface="Times New Roman" panose="02020603050405020304" pitchFamily="18" charset="0"/>
                <a:cs typeface="Times New Roman" panose="02020603050405020304" pitchFamily="18" charset="0"/>
              </a:rPr>
              <a:t>	Chose </a:t>
            </a:r>
            <a:r>
              <a:rPr lang="en-US" sz="2500" dirty="0" err="1">
                <a:latin typeface="Times New Roman" panose="02020603050405020304" pitchFamily="18" charset="0"/>
                <a:cs typeface="Times New Roman" panose="02020603050405020304" pitchFamily="18" charset="0"/>
              </a:rPr>
              <a:t>ImgBB</a:t>
            </a:r>
            <a:r>
              <a:rPr lang="en-US" sz="2500" dirty="0">
                <a:latin typeface="Times New Roman" panose="02020603050405020304" pitchFamily="18" charset="0"/>
                <a:cs typeface="Times New Roman" panose="02020603050405020304" pitchFamily="18" charset="0"/>
              </a:rPr>
              <a:t> as the cloud service for the student image gallery project</a:t>
            </a:r>
            <a:r>
              <a:rPr lang="en-US" sz="2500" dirty="0" smtClean="0">
                <a:latin typeface="Times New Roman" panose="02020603050405020304" pitchFamily="18" charset="0"/>
                <a:cs typeface="Times New Roman" panose="02020603050405020304" pitchFamily="18" charset="0"/>
              </a:rPr>
              <a:t>.</a:t>
            </a:r>
            <a:endParaRPr lang="en-US" sz="25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C33A9296-2A88-4469-B394-A84D98208509}" type="datetime1">
              <a:rPr lang="en-US" smtClean="0"/>
              <a:t>11/7/2025</a:t>
            </a:fld>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11</a:t>
            </a:fld>
            <a:endParaRPr lang="en-US"/>
          </a:p>
        </p:txBody>
      </p:sp>
    </p:spTree>
    <p:extLst>
      <p:ext uri="{BB962C8B-B14F-4D97-AF65-F5344CB8AC3E}">
        <p14:creationId xmlns:p14="http://schemas.microsoft.com/office/powerpoint/2010/main" val="7121538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19753" y="613855"/>
            <a:ext cx="10576873" cy="4131900"/>
          </a:xfrm>
          <a:prstGeom prst="rect">
            <a:avLst/>
          </a:prstGeom>
          <a:noFill/>
        </p:spPr>
        <p:txBody>
          <a:bodyPr wrap="square" rtlCol="0">
            <a:spAutoFit/>
          </a:bodyPr>
          <a:lstStyle/>
          <a:p>
            <a:pPr>
              <a:lnSpc>
                <a:spcPct val="150000"/>
              </a:lnSpc>
            </a:pPr>
            <a:r>
              <a:rPr lang="en-US" sz="2500" dirty="0" smtClean="0">
                <a:latin typeface="Times New Roman" panose="02020603050405020304" pitchFamily="18" charset="0"/>
                <a:cs typeface="Times New Roman" panose="02020603050405020304" pitchFamily="18" charset="0"/>
              </a:rPr>
              <a:t>4.  Reasons for Choosing </a:t>
            </a:r>
            <a:r>
              <a:rPr lang="en-US" sz="2500" dirty="0" err="1" smtClean="0">
                <a:latin typeface="Times New Roman" panose="02020603050405020304" pitchFamily="18" charset="0"/>
                <a:cs typeface="Times New Roman" panose="02020603050405020304" pitchFamily="18" charset="0"/>
              </a:rPr>
              <a:t>ImgBB</a:t>
            </a:r>
            <a:endParaRPr lang="en-US" sz="2500" dirty="0" smtClean="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Cost-effective: Free plan sufficient for students. </a:t>
            </a:r>
          </a:p>
          <a:p>
            <a:pPr marL="742950" lvl="1" indent="-28575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Simple architecture: No backend server required; store image path in DB. </a:t>
            </a:r>
          </a:p>
          <a:p>
            <a:pPr marL="742950" lvl="1" indent="-28575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Built-in CDN: Faster image loading. </a:t>
            </a:r>
          </a:p>
          <a:p>
            <a:pPr marL="742950" lvl="1" indent="-28575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Easy integration: REST API, direct frontend upload.</a:t>
            </a:r>
          </a:p>
          <a:p>
            <a:pPr marL="742950" lvl="1" indent="-285750">
              <a:lnSpc>
                <a:spcPct val="150000"/>
              </a:lnSpc>
              <a:buFont typeface="Arial" panose="020B0604020202020204" pitchFamily="34" charset="0"/>
              <a:buChar char="•"/>
            </a:pPr>
            <a:r>
              <a:rPr lang="en-US" sz="2500" dirty="0" smtClean="0">
                <a:latin typeface="Times New Roman" panose="02020603050405020304" pitchFamily="18" charset="0"/>
                <a:cs typeface="Times New Roman" panose="02020603050405020304" pitchFamily="18" charset="0"/>
              </a:rPr>
              <a:t>Scalable: Can upgrade if app grows.</a:t>
            </a:r>
          </a:p>
          <a:p>
            <a:pPr marL="285750" indent="-285750">
              <a:lnSpc>
                <a:spcPct val="150000"/>
              </a:lnSpc>
              <a:buFont typeface="Arial" panose="020B0604020202020204" pitchFamily="34" charset="0"/>
              <a:buChar char="•"/>
            </a:pPr>
            <a:endParaRPr lang="en-US" sz="2500" dirty="0"/>
          </a:p>
        </p:txBody>
      </p:sp>
      <p:sp>
        <p:nvSpPr>
          <p:cNvPr id="2" name="Date Placeholder 1"/>
          <p:cNvSpPr>
            <a:spLocks noGrp="1"/>
          </p:cNvSpPr>
          <p:nvPr>
            <p:ph type="dt" sz="half" idx="10"/>
          </p:nvPr>
        </p:nvSpPr>
        <p:spPr/>
        <p:txBody>
          <a:bodyPr/>
          <a:lstStyle/>
          <a:p>
            <a:fld id="{8C641B8F-7CBC-43D7-AD6E-E6F218792469}" type="datetime1">
              <a:rPr lang="en-US" smtClean="0"/>
              <a:t>11/7/2025</a:t>
            </a:fld>
            <a:endParaRPr lang="en-US"/>
          </a:p>
        </p:txBody>
      </p:sp>
      <p:sp>
        <p:nvSpPr>
          <p:cNvPr id="4" name="Slide Number Placeholder 3"/>
          <p:cNvSpPr>
            <a:spLocks noGrp="1"/>
          </p:cNvSpPr>
          <p:nvPr>
            <p:ph type="sldNum" sz="quarter" idx="12"/>
          </p:nvPr>
        </p:nvSpPr>
        <p:spPr/>
        <p:txBody>
          <a:bodyPr/>
          <a:lstStyle/>
          <a:p>
            <a:fld id="{AF6764F5-3FDB-4372-885F-E456D97BAF7C}" type="slidenum">
              <a:rPr lang="en-US" smtClean="0"/>
              <a:t>12</a:t>
            </a:fld>
            <a:endParaRPr lang="en-US"/>
          </a:p>
        </p:txBody>
      </p:sp>
      <p:sp>
        <p:nvSpPr>
          <p:cNvPr id="3" name="TextBox 2"/>
          <p:cNvSpPr txBox="1"/>
          <p:nvPr/>
        </p:nvSpPr>
        <p:spPr>
          <a:xfrm>
            <a:off x="1319754" y="4457343"/>
            <a:ext cx="10576872" cy="2400657"/>
          </a:xfrm>
          <a:prstGeom prst="rect">
            <a:avLst/>
          </a:prstGeom>
          <a:noFill/>
        </p:spPr>
        <p:txBody>
          <a:bodyPr wrap="square" rtlCol="0">
            <a:spAutoFit/>
          </a:bodyPr>
          <a:lstStyle/>
          <a:p>
            <a:pPr algn="just">
              <a:lnSpc>
                <a:spcPct val="150000"/>
              </a:lnSpc>
            </a:pPr>
            <a:r>
              <a:rPr lang="en-US" sz="2500" dirty="0" smtClean="0">
                <a:latin typeface="Times New Roman" panose="02020603050405020304" pitchFamily="18" charset="0"/>
                <a:ea typeface="Tahoma" panose="020B0604030504040204" pitchFamily="34" charset="0"/>
                <a:cs typeface="Times New Roman" panose="02020603050405020304" pitchFamily="18" charset="0"/>
              </a:rPr>
              <a:t>5. Conclusion</a:t>
            </a:r>
            <a:endParaRPr lang="en-US" sz="2500" dirty="0">
              <a:latin typeface="Times New Roman" panose="02020603050405020304" pitchFamily="18" charset="0"/>
              <a:ea typeface="Tahoma" panose="020B0604030504040204" pitchFamily="34" charset="0"/>
              <a:cs typeface="Times New Roman" panose="02020603050405020304" pitchFamily="18" charset="0"/>
            </a:endParaRPr>
          </a:p>
          <a:p>
            <a:pPr algn="just">
              <a:lnSpc>
                <a:spcPct val="150000"/>
              </a:lnSpc>
            </a:pPr>
            <a:r>
              <a:rPr lang="en-US" sz="2500" dirty="0" smtClean="0">
                <a:latin typeface="Times New Roman" panose="02020603050405020304" pitchFamily="18" charset="0"/>
                <a:ea typeface="Tahoma" panose="020B0604030504040204" pitchFamily="34" charset="0"/>
                <a:cs typeface="Times New Roman" panose="02020603050405020304" pitchFamily="18" charset="0"/>
              </a:rPr>
              <a:t>		</a:t>
            </a:r>
            <a:r>
              <a:rPr lang="en-US" sz="2500" dirty="0" err="1" smtClean="0">
                <a:latin typeface="Times New Roman" panose="02020603050405020304" pitchFamily="18" charset="0"/>
                <a:ea typeface="Tahoma" panose="020B0604030504040204" pitchFamily="34" charset="0"/>
                <a:cs typeface="Times New Roman" panose="02020603050405020304" pitchFamily="18" charset="0"/>
              </a:rPr>
              <a:t>ImgBB</a:t>
            </a:r>
            <a:r>
              <a:rPr lang="en-US" sz="2500" dirty="0" smtClean="0">
                <a:latin typeface="Times New Roman" panose="02020603050405020304" pitchFamily="18" charset="0"/>
                <a:ea typeface="Tahoma" panose="020B0604030504040204" pitchFamily="34" charset="0"/>
                <a:cs typeface="Times New Roman" panose="02020603050405020304" pitchFamily="18" charset="0"/>
              </a:rPr>
              <a:t> </a:t>
            </a:r>
            <a:r>
              <a:rPr lang="en-US" sz="2500" dirty="0">
                <a:latin typeface="Times New Roman" panose="02020603050405020304" pitchFamily="18" charset="0"/>
                <a:ea typeface="Tahoma" panose="020B0604030504040204" pitchFamily="34" charset="0"/>
                <a:cs typeface="Times New Roman" panose="02020603050405020304" pitchFamily="18" charset="0"/>
              </a:rPr>
              <a:t>= best balance of simplicity, speed, and affordability for </a:t>
            </a:r>
            <a:r>
              <a:rPr lang="en-US" sz="2500" dirty="0" smtClean="0">
                <a:latin typeface="Times New Roman" panose="02020603050405020304" pitchFamily="18" charset="0"/>
                <a:ea typeface="Tahoma" panose="020B0604030504040204" pitchFamily="34" charset="0"/>
                <a:cs typeface="Times New Roman" panose="02020603050405020304" pitchFamily="18" charset="0"/>
              </a:rPr>
              <a:t>small-	scale projects</a:t>
            </a:r>
            <a:r>
              <a:rPr lang="en-US" sz="2500" dirty="0">
                <a:latin typeface="Times New Roman" panose="02020603050405020304" pitchFamily="18" charset="0"/>
                <a:ea typeface="Tahoma" panose="020B0604030504040204" pitchFamily="34" charset="0"/>
                <a:cs typeface="Times New Roman" panose="02020603050405020304" pitchFamily="18" charset="0"/>
              </a:rPr>
              <a:t>. Bigger projects may use AWS, Google Cloud, or Azure.</a:t>
            </a:r>
          </a:p>
          <a:p>
            <a:pPr algn="just">
              <a:lnSpc>
                <a:spcPct val="150000"/>
              </a:lnSpc>
            </a:pPr>
            <a:endParaRPr lang="en-US" sz="25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593104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3747" y="731917"/>
            <a:ext cx="3629320" cy="477054"/>
          </a:xfrm>
          <a:prstGeom prst="rect">
            <a:avLst/>
          </a:prstGeom>
          <a:noFill/>
        </p:spPr>
        <p:txBody>
          <a:bodyPr wrap="square" rtlCol="0">
            <a:spAutoFit/>
          </a:bodyPr>
          <a:lstStyle/>
          <a:p>
            <a:pPr marL="342900" indent="-342900">
              <a:buFont typeface="Wingdings" panose="05000000000000000000" pitchFamily="2" charset="2"/>
              <a:buChar char="Ø"/>
            </a:pPr>
            <a:r>
              <a:rPr lang="en-US" sz="2500" dirty="0" smtClean="0">
                <a:latin typeface="Times New Roman" panose="02020603050405020304" pitchFamily="18" charset="0"/>
                <a:cs typeface="Times New Roman" panose="02020603050405020304" pitchFamily="18" charset="0"/>
              </a:rPr>
              <a:t>Scalability Design</a:t>
            </a:r>
            <a:endParaRPr lang="en-US" sz="25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209800" y="1772240"/>
            <a:ext cx="5854045" cy="3170099"/>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2500" dirty="0" smtClean="0">
                <a:latin typeface="Times New Roman" panose="02020603050405020304" pitchFamily="18" charset="0"/>
                <a:cs typeface="Times New Roman" panose="02020603050405020304" pitchFamily="18" charset="0"/>
              </a:rPr>
              <a:t>Enhancing Performance &amp; Scalability</a:t>
            </a:r>
          </a:p>
          <a:p>
            <a:pPr marL="342900" indent="-342900">
              <a:lnSpc>
                <a:spcPct val="200000"/>
              </a:lnSpc>
              <a:buFont typeface="Wingdings" panose="05000000000000000000" pitchFamily="2" charset="2"/>
              <a:buChar char="ü"/>
            </a:pPr>
            <a:r>
              <a:rPr lang="en-US" sz="2500" dirty="0" smtClean="0">
                <a:latin typeface="Times New Roman" panose="02020603050405020304" pitchFamily="18" charset="0"/>
                <a:cs typeface="Times New Roman" panose="02020603050405020304" pitchFamily="18" charset="0"/>
              </a:rPr>
              <a:t>Data Security &amp; Recovery</a:t>
            </a:r>
          </a:p>
          <a:p>
            <a:pPr marL="342900" indent="-342900">
              <a:lnSpc>
                <a:spcPct val="200000"/>
              </a:lnSpc>
              <a:buFont typeface="Wingdings" panose="05000000000000000000" pitchFamily="2" charset="2"/>
              <a:buChar char="ü"/>
            </a:pPr>
            <a:r>
              <a:rPr lang="en-US" sz="2500" dirty="0" smtClean="0">
                <a:latin typeface="Times New Roman" panose="02020603050405020304" pitchFamily="18" charset="0"/>
                <a:cs typeface="Times New Roman" panose="02020603050405020304" pitchFamily="18" charset="0"/>
              </a:rPr>
              <a:t>Ensuring High Availability &amp; Uptime</a:t>
            </a:r>
          </a:p>
          <a:p>
            <a:pPr marL="342900" indent="-342900">
              <a:lnSpc>
                <a:spcPct val="200000"/>
              </a:lnSpc>
              <a:buFont typeface="Wingdings" panose="05000000000000000000" pitchFamily="2" charset="2"/>
              <a:buChar char="ü"/>
            </a:pPr>
            <a:endParaRPr lang="en-US" sz="25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73397038-284A-42EE-B1FC-2BF67AF153A1}" type="datetime1">
              <a:rPr lang="en-US" smtClean="0"/>
              <a:t>11/7/2025</a:t>
            </a:fld>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13</a:t>
            </a:fld>
            <a:endParaRPr lang="en-US"/>
          </a:p>
        </p:txBody>
      </p:sp>
    </p:spTree>
    <p:extLst>
      <p:ext uri="{BB962C8B-B14F-4D97-AF65-F5344CB8AC3E}">
        <p14:creationId xmlns:p14="http://schemas.microsoft.com/office/powerpoint/2010/main" val="14612976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371" y="377073"/>
            <a:ext cx="5506039" cy="688157"/>
          </a:xfrm>
        </p:spPr>
        <p:txBody>
          <a:bodyPr>
            <a:noAutofit/>
          </a:bodyPr>
          <a:lstStyle/>
          <a:p>
            <a:pPr marL="342900" indent="-342900">
              <a:lnSpc>
                <a:spcPct val="20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Implementation Roadmap</a:t>
            </a:r>
          </a:p>
        </p:txBody>
      </p:sp>
      <p:sp>
        <p:nvSpPr>
          <p:cNvPr id="4" name="TextBox 3"/>
          <p:cNvSpPr txBox="1"/>
          <p:nvPr/>
        </p:nvSpPr>
        <p:spPr>
          <a:xfrm>
            <a:off x="1602557" y="1252850"/>
            <a:ext cx="10416618" cy="5286062"/>
          </a:xfrm>
          <a:prstGeom prst="rect">
            <a:avLst/>
          </a:prstGeom>
          <a:noFill/>
        </p:spPr>
        <p:txBody>
          <a:bodyPr wrap="square" rtlCol="0">
            <a:spAutoFit/>
          </a:bodyPr>
          <a:lstStyle/>
          <a:p>
            <a:pPr algn="just">
              <a:lnSpc>
                <a:spcPct val="150000"/>
              </a:lnSpc>
            </a:pPr>
            <a:r>
              <a:rPr lang="en-US" sz="2500" b="1" dirty="0">
                <a:latin typeface="Times New Roman" panose="02020603050405020304" pitchFamily="18" charset="0"/>
                <a:cs typeface="Times New Roman" panose="02020603050405020304" pitchFamily="18" charset="0"/>
              </a:rPr>
              <a:t>Project over view</a:t>
            </a:r>
          </a:p>
          <a:p>
            <a:pPr algn="just">
              <a:lnSpc>
                <a:spcPct val="150000"/>
              </a:lnSpc>
            </a:pPr>
            <a:r>
              <a:rPr lang="en-US" sz="2500" dirty="0">
                <a:latin typeface="Times New Roman" panose="02020603050405020304" pitchFamily="18" charset="0"/>
                <a:cs typeface="Times New Roman" panose="02020603050405020304" pitchFamily="18" charset="0"/>
              </a:rPr>
              <a:t>A simple, scalable, resilient web application for uploading and viewing images, built using modern cloud native technologies </a:t>
            </a:r>
          </a:p>
          <a:p>
            <a:pPr algn="just">
              <a:lnSpc>
                <a:spcPct val="150000"/>
              </a:lnSpc>
            </a:pPr>
            <a:r>
              <a:rPr lang="en-US" sz="2500" b="1" dirty="0">
                <a:latin typeface="Times New Roman" panose="02020603050405020304" pitchFamily="18" charset="0"/>
                <a:cs typeface="Times New Roman" panose="02020603050405020304" pitchFamily="18" charset="0"/>
              </a:rPr>
              <a:t>5-Day Implementation Roadmap: Images Gallery Web App</a:t>
            </a:r>
          </a:p>
          <a:p>
            <a:pPr algn="just">
              <a:lnSpc>
                <a:spcPct val="150000"/>
              </a:lnSpc>
            </a:pPr>
            <a:r>
              <a:rPr lang="en-US" sz="2500" b="1" i="1" dirty="0">
                <a:latin typeface="Times New Roman" panose="02020603050405020304" pitchFamily="18" charset="0"/>
                <a:cs typeface="Times New Roman" panose="02020603050405020304" pitchFamily="18" charset="0"/>
              </a:rPr>
              <a:t>Technology Stack:</a:t>
            </a:r>
          </a:p>
          <a:p>
            <a:pPr algn="just">
              <a:lnSpc>
                <a:spcPct val="150000"/>
              </a:lnSpc>
            </a:pPr>
            <a:r>
              <a:rPr lang="en-US" sz="2500" dirty="0">
                <a:latin typeface="Times New Roman" panose="02020603050405020304" pitchFamily="18" charset="0"/>
                <a:cs typeface="Times New Roman" panose="02020603050405020304" pitchFamily="18" charset="0"/>
              </a:rPr>
              <a:t>· Backend: Python Flask</a:t>
            </a:r>
          </a:p>
          <a:p>
            <a:pPr algn="just">
              <a:lnSpc>
                <a:spcPct val="150000"/>
              </a:lnSpc>
            </a:pPr>
            <a:r>
              <a:rPr lang="en-US" sz="2500" dirty="0">
                <a:latin typeface="Times New Roman" panose="02020603050405020304" pitchFamily="18" charset="0"/>
                <a:cs typeface="Times New Roman" panose="02020603050405020304" pitchFamily="18" charset="0"/>
              </a:rPr>
              <a:t>· Frontend: HTML, CSS, JavaScript, JSON</a:t>
            </a:r>
          </a:p>
          <a:p>
            <a:pPr algn="just">
              <a:lnSpc>
                <a:spcPct val="150000"/>
              </a:lnSpc>
            </a:pPr>
            <a:r>
              <a:rPr lang="en-US" sz="2500" dirty="0">
                <a:latin typeface="Times New Roman" panose="02020603050405020304" pitchFamily="18" charset="0"/>
                <a:cs typeface="Times New Roman" panose="02020603050405020304" pitchFamily="18" charset="0"/>
              </a:rPr>
              <a:t>· Database/Storage: </a:t>
            </a:r>
            <a:r>
              <a:rPr lang="en-US" sz="2500" dirty="0" err="1">
                <a:latin typeface="Times New Roman" panose="02020603050405020304" pitchFamily="18" charset="0"/>
                <a:cs typeface="Times New Roman" panose="02020603050405020304" pitchFamily="18" charset="0"/>
              </a:rPr>
              <a:t>imgBB</a:t>
            </a:r>
            <a:r>
              <a:rPr lang="en-US" sz="2500" dirty="0">
                <a:latin typeface="Times New Roman" panose="02020603050405020304" pitchFamily="18" charset="0"/>
                <a:cs typeface="Times New Roman" panose="02020603050405020304" pitchFamily="18" charset="0"/>
              </a:rPr>
              <a:t> API (for image storage and metadata)</a:t>
            </a:r>
          </a:p>
          <a:p>
            <a:pPr algn="just">
              <a:lnSpc>
                <a:spcPct val="150000"/>
              </a:lnSpc>
            </a:pPr>
            <a:r>
              <a:rPr lang="en-US" sz="2500" dirty="0">
                <a:latin typeface="Times New Roman" panose="02020603050405020304" pitchFamily="18" charset="0"/>
                <a:cs typeface="Times New Roman" panose="02020603050405020304" pitchFamily="18" charset="0"/>
              </a:rPr>
              <a:t>· Cloud Service: </a:t>
            </a:r>
            <a:r>
              <a:rPr lang="en-US" sz="2500" dirty="0" err="1">
                <a:latin typeface="Times New Roman" panose="02020603050405020304" pitchFamily="18" charset="0"/>
                <a:cs typeface="Times New Roman" panose="02020603050405020304" pitchFamily="18" charset="0"/>
              </a:rPr>
              <a:t>imgBB</a:t>
            </a:r>
            <a:r>
              <a:rPr lang="en-US" sz="2500" dirty="0">
                <a:latin typeface="Times New Roman" panose="02020603050405020304" pitchFamily="18" charset="0"/>
                <a:cs typeface="Times New Roman" panose="02020603050405020304" pitchFamily="18" charset="0"/>
              </a:rPr>
              <a:t> Cloud </a:t>
            </a:r>
            <a:r>
              <a:rPr lang="en-US" sz="2500" dirty="0" smtClean="0">
                <a:latin typeface="Times New Roman" panose="02020603050405020304" pitchFamily="18" charset="0"/>
                <a:cs typeface="Times New Roman" panose="02020603050405020304" pitchFamily="18" charset="0"/>
              </a:rPr>
              <a:t>Services</a:t>
            </a:r>
            <a:endParaRPr lang="en-US" sz="25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C3702E6F-ACD1-44A5-A243-C448F79FD779}" type="datetime1">
              <a:rPr lang="en-US" smtClean="0"/>
              <a:t>11/7/2025</a:t>
            </a:fld>
            <a:endParaRPr lang="en-US"/>
          </a:p>
        </p:txBody>
      </p:sp>
      <p:sp>
        <p:nvSpPr>
          <p:cNvPr id="6" name="Slide Number Placeholder 5"/>
          <p:cNvSpPr>
            <a:spLocks noGrp="1"/>
          </p:cNvSpPr>
          <p:nvPr>
            <p:ph type="sldNum" sz="quarter" idx="12"/>
          </p:nvPr>
        </p:nvSpPr>
        <p:spPr/>
        <p:txBody>
          <a:bodyPr/>
          <a:lstStyle/>
          <a:p>
            <a:fld id="{AF6764F5-3FDB-4372-885F-E456D97BAF7C}" type="slidenum">
              <a:rPr lang="en-US" smtClean="0"/>
              <a:t>14</a:t>
            </a:fld>
            <a:endParaRPr lang="en-US"/>
          </a:p>
        </p:txBody>
      </p:sp>
    </p:spTree>
    <p:extLst>
      <p:ext uri="{BB962C8B-B14F-4D97-AF65-F5344CB8AC3E}">
        <p14:creationId xmlns:p14="http://schemas.microsoft.com/office/powerpoint/2010/main" val="33674272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2362" y="1168924"/>
            <a:ext cx="6108569" cy="4516621"/>
          </a:xfrm>
          <a:prstGeom prst="rect">
            <a:avLst/>
          </a:prstGeom>
          <a:noFill/>
        </p:spPr>
        <p:txBody>
          <a:bodyPr wrap="square" rtlCol="0">
            <a:spAutoFit/>
          </a:bodyPr>
          <a:lstStyle/>
          <a:p>
            <a:pPr>
              <a:lnSpc>
                <a:spcPct val="150000"/>
              </a:lnSpc>
            </a:pPr>
            <a:r>
              <a:rPr lang="en-US" sz="2500" b="1" dirty="0">
                <a:latin typeface="Times New Roman" panose="02020603050405020304" pitchFamily="18" charset="0"/>
                <a:cs typeface="Times New Roman" panose="02020603050405020304" pitchFamily="18" charset="0"/>
              </a:rPr>
              <a:t>Daily Time Allocation (Approximate):</a:t>
            </a:r>
          </a:p>
          <a:p>
            <a:pPr>
              <a:lnSpc>
                <a:spcPct val="150000"/>
              </a:lnSpc>
            </a:pPr>
            <a:r>
              <a:rPr lang="en-US" sz="2500" dirty="0">
                <a:latin typeface="Times New Roman" panose="02020603050405020304" pitchFamily="18" charset="0"/>
                <a:cs typeface="Times New Roman" panose="02020603050405020304" pitchFamily="18" charset="0"/>
              </a:rPr>
              <a:t> </a:t>
            </a:r>
          </a:p>
          <a:p>
            <a:pPr>
              <a:lnSpc>
                <a:spcPct val="150000"/>
              </a:lnSpc>
            </a:pPr>
            <a:r>
              <a:rPr lang="en-US" sz="2500" dirty="0">
                <a:latin typeface="Times New Roman" panose="02020603050405020304" pitchFamily="18" charset="0"/>
                <a:cs typeface="Times New Roman" panose="02020603050405020304" pitchFamily="18" charset="0"/>
              </a:rPr>
              <a:t>· Day 1: 6-8 hours (Setup and foundation)</a:t>
            </a:r>
          </a:p>
          <a:p>
            <a:pPr>
              <a:lnSpc>
                <a:spcPct val="150000"/>
              </a:lnSpc>
            </a:pPr>
            <a:r>
              <a:rPr lang="en-US" sz="2500" dirty="0">
                <a:latin typeface="Times New Roman" panose="02020603050405020304" pitchFamily="18" charset="0"/>
                <a:cs typeface="Times New Roman" panose="02020603050405020304" pitchFamily="18" charset="0"/>
              </a:rPr>
              <a:t>· Day 2: 6-7 hours (Core upload functionality)</a:t>
            </a:r>
          </a:p>
          <a:p>
            <a:pPr>
              <a:lnSpc>
                <a:spcPct val="150000"/>
              </a:lnSpc>
            </a:pPr>
            <a:r>
              <a:rPr lang="en-US" sz="2500" dirty="0">
                <a:latin typeface="Times New Roman" panose="02020603050405020304" pitchFamily="18" charset="0"/>
                <a:cs typeface="Times New Roman" panose="02020603050405020304" pitchFamily="18" charset="0"/>
              </a:rPr>
              <a:t>· Day 3: 5-6 hours (Gallery and display)</a:t>
            </a:r>
          </a:p>
          <a:p>
            <a:pPr>
              <a:lnSpc>
                <a:spcPct val="150000"/>
              </a:lnSpc>
            </a:pPr>
            <a:r>
              <a:rPr lang="en-US" sz="2500" dirty="0">
                <a:latin typeface="Times New Roman" panose="02020603050405020304" pitchFamily="18" charset="0"/>
                <a:cs typeface="Times New Roman" panose="02020603050405020304" pitchFamily="18" charset="0"/>
              </a:rPr>
              <a:t>· Day 4: 6-7 hours (Advanced features)</a:t>
            </a:r>
          </a:p>
          <a:p>
            <a:pPr>
              <a:lnSpc>
                <a:spcPct val="150000"/>
              </a:lnSpc>
            </a:pPr>
            <a:r>
              <a:rPr lang="en-US" sz="2500" dirty="0">
                <a:latin typeface="Times New Roman" panose="02020603050405020304" pitchFamily="18" charset="0"/>
                <a:cs typeface="Times New Roman" panose="02020603050405020304" pitchFamily="18" charset="0"/>
              </a:rPr>
              <a:t>· Day 5: 6-8 hours (Testing and deployment)</a:t>
            </a:r>
          </a:p>
          <a:p>
            <a:endParaRPr lang="en-US" sz="2500" dirty="0"/>
          </a:p>
        </p:txBody>
      </p:sp>
      <p:sp>
        <p:nvSpPr>
          <p:cNvPr id="2" name="Date Placeholder 1"/>
          <p:cNvSpPr>
            <a:spLocks noGrp="1"/>
          </p:cNvSpPr>
          <p:nvPr>
            <p:ph type="dt" sz="half" idx="10"/>
          </p:nvPr>
        </p:nvSpPr>
        <p:spPr/>
        <p:txBody>
          <a:bodyPr/>
          <a:lstStyle/>
          <a:p>
            <a:fld id="{3719E4E7-FC3D-43F6-9FB9-158F71D2DC1E}" type="datetime1">
              <a:rPr lang="en-US" smtClean="0"/>
              <a:t>11/7/2025</a:t>
            </a:fld>
            <a:endParaRPr lang="en-US"/>
          </a:p>
        </p:txBody>
      </p:sp>
      <p:sp>
        <p:nvSpPr>
          <p:cNvPr id="5" name="Slide Number Placeholder 4"/>
          <p:cNvSpPr>
            <a:spLocks noGrp="1"/>
          </p:cNvSpPr>
          <p:nvPr>
            <p:ph type="sldNum" sz="quarter" idx="12"/>
          </p:nvPr>
        </p:nvSpPr>
        <p:spPr/>
        <p:txBody>
          <a:bodyPr/>
          <a:lstStyle/>
          <a:p>
            <a:fld id="{AF6764F5-3FDB-4372-885F-E456D97BAF7C}" type="slidenum">
              <a:rPr lang="en-US" smtClean="0"/>
              <a:t>15</a:t>
            </a:fld>
            <a:endParaRPr lang="en-US"/>
          </a:p>
        </p:txBody>
      </p:sp>
    </p:spTree>
    <p:extLst>
      <p:ext uri="{BB962C8B-B14F-4D97-AF65-F5344CB8AC3E}">
        <p14:creationId xmlns:p14="http://schemas.microsoft.com/office/powerpoint/2010/main" val="39739212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TotalTime>
  <Words>698</Words>
  <Application>Microsoft Office PowerPoint</Application>
  <PresentationFormat>Widescreen</PresentationFormat>
  <Paragraphs>118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Myanmar Text</vt:lpstr>
      <vt:lpstr>Tahoma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Roadmap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zaunaw53@gmail.com</dc:creator>
  <cp:lastModifiedBy>zaunaw53@gmail.com</cp:lastModifiedBy>
  <cp:revision>63</cp:revision>
  <dcterms:created xsi:type="dcterms:W3CDTF">2025-11-05T11:25:28Z</dcterms:created>
  <dcterms:modified xsi:type="dcterms:W3CDTF">2025-11-07T04:42:01Z</dcterms:modified>
</cp:coreProperties>
</file>